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framing: same engineers, same demand — a different operating system for how work enters, gets prioritized, and gets delivered.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AS-IS: no intake, no filter, no priority. Seven departments email engineers directly; engineers absorb interruptions and become coordinators.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TO-BE: all demand converges on one intake. The pipeline holds and scores everything; the weekly planning session is the only gate that releases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stages from request to delivery. The lock on stage 7 is the release gate: work is packaged and locked before engineers ever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management message: demand is unlimited, capacity is fixed and known per capability. Work is released by capacity — never by urgency.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package is the unit of commitment. Mid-cycle requests hit the exception-governance diamond, not the engineers. Stability = predictable 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Swimlane: requests keep arriving in the top lane but are absorbed by the pipeline. The barrier protects the 4-week cycle: Planning, Design, Design, QA,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30-second slide: identical demand on both sides. Left, it lands on people; right, it flows through a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dimensions of improvement — each row is a management capability the department gains without hiring a single additional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decision: approve the operating model, stand up intake and weekly planning. No new headcount — a new system for the same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DEPARTMENT  ·  OPERATING MODEL PROPOSAL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789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Engineering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Engineering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engineering capacity through controlled demand management.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663440"/>
            <a:ext cx="246888" cy="246888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5257800"/>
            <a:ext cx="246888" cy="246888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4526280"/>
            <a:ext cx="246888" cy="24688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5532120"/>
            <a:ext cx="246888" cy="24688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5120640"/>
            <a:ext cx="246888" cy="246888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4983480"/>
            <a:ext cx="246888" cy="246888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 flipV="1">
            <a:off x="1097280" y="4709160"/>
            <a:ext cx="1508760" cy="960120"/>
          </a:xfrm>
          <a:prstGeom prst="line">
            <a:avLst/>
          </a:prstGeom>
          <a:noFill/>
          <a:ln w="12700">
            <a:solidFill>
              <a:srgbClr val="B0574B"/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960120" y="4892040"/>
            <a:ext cx="1737360" cy="548640"/>
          </a:xfrm>
          <a:prstGeom prst="line">
            <a:avLst/>
          </a:prstGeom>
          <a:noFill/>
          <a:ln w="12700">
            <a:solidFill>
              <a:srgbClr val="B0574B"/>
            </a:solidFill>
            <a:prstDash val="solid"/>
          </a:ln>
        </p:spPr>
      </p:sp>
      <p:sp>
        <p:nvSpPr>
          <p:cNvPr id="13" name="Shape 5"/>
          <p:cNvSpPr/>
          <p:nvPr/>
        </p:nvSpPr>
        <p:spPr>
          <a:xfrm flipH="1">
            <a:off x="1143000" y="4480560"/>
            <a:ext cx="1143000" cy="960120"/>
          </a:xfrm>
          <a:prstGeom prst="line">
            <a:avLst/>
          </a:prstGeom>
          <a:noFill/>
          <a:ln w="12700">
            <a:solidFill>
              <a:srgbClr val="B0574B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777240" y="5897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random demand</a:t>
            </a: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3063240" y="5120640"/>
            <a:ext cx="822960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6" name="Shape 8"/>
          <p:cNvSpPr/>
          <p:nvPr/>
        </p:nvSpPr>
        <p:spPr>
          <a:xfrm>
            <a:off x="4023360" y="475488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223560"/>
          </a:solidFill>
          <a:ln w="12700">
            <a:solidFill>
              <a:srgbClr val="3D5788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4528" y="4956048"/>
            <a:ext cx="310896" cy="310896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572000" y="47548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3886200" y="5897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5760720" y="5120640"/>
            <a:ext cx="822960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1" name="Shape 12"/>
          <p:cNvSpPr/>
          <p:nvPr/>
        </p:nvSpPr>
        <p:spPr>
          <a:xfrm>
            <a:off x="6720840" y="4681728"/>
            <a:ext cx="1965960" cy="877824"/>
          </a:xfrm>
          <a:prstGeom prst="roundRect">
            <a:avLst>
              <a:gd name="adj" fmla="val 7292"/>
            </a:avLst>
          </a:prstGeom>
          <a:solidFill>
            <a:srgbClr val="223560"/>
          </a:solidFill>
          <a:ln w="12700">
            <a:solidFill>
              <a:srgbClr val="3D5788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6903720" y="48646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24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69037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7379208" y="48646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24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737920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17"/>
          <p:cNvSpPr/>
          <p:nvPr/>
        </p:nvSpPr>
        <p:spPr>
          <a:xfrm>
            <a:off x="7854696" y="48646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62447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7854696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956048"/>
            <a:ext cx="219456" cy="2194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537960" y="58978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work packages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8823960" y="5120640"/>
            <a:ext cx="822960" cy="0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1" name="Shape 21"/>
          <p:cNvSpPr/>
          <p:nvPr/>
        </p:nvSpPr>
        <p:spPr>
          <a:xfrm>
            <a:off x="9793224" y="4809744"/>
            <a:ext cx="621792" cy="621792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2454" y="4958974"/>
            <a:ext cx="323332" cy="32333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189720" y="5897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delivery</a:t>
            </a:r>
            <a:endParaRPr lang="en-US" sz="1000" dirty="0"/>
          </a:p>
        </p:txBody>
      </p:sp>
      <p:sp>
        <p:nvSpPr>
          <p:cNvPr id="34" name="Text 23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· 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C0392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· 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reaches engineers from every direction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1 — how work happens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1170432"/>
            <a:ext cx="301752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36592" y="1289304"/>
            <a:ext cx="365760" cy="365760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4374" y="1377086"/>
            <a:ext cx="190195" cy="190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5504" y="12252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Expansion Plan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75504" y="1463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project portfolio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80760" y="1792224"/>
            <a:ext cx="0" cy="329184"/>
          </a:xfrm>
          <a:prstGeom prst="line">
            <a:avLst/>
          </a:prstGeom>
          <a:noFill/>
          <a:ln w="19050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772400" y="1335024"/>
            <a:ext cx="1828800" cy="274320"/>
          </a:xfrm>
          <a:prstGeom prst="roundRect">
            <a:avLst>
              <a:gd name="adj" fmla="val 18333"/>
            </a:avLst>
          </a:prstGeom>
          <a:solidFill>
            <a:srgbClr val="FDF3E3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 keeps slipping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931920" y="2157984"/>
            <a:ext cx="4297680" cy="2788920"/>
          </a:xfrm>
          <a:prstGeom prst="roundRect">
            <a:avLst>
              <a:gd name="adj" fmla="val 2295"/>
            </a:avLst>
          </a:prstGeom>
          <a:solidFill>
            <a:srgbClr val="F4F6FA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22494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DEPARTMENT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33088" y="2596896"/>
            <a:ext cx="1243584" cy="184708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724912"/>
            <a:ext cx="365760" cy="365760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782" y="2812694"/>
            <a:ext cx="190195" cy="19019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33088" y="31272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3364992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87952" y="35844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task switches today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178808" y="404164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 paused</a:t>
            </a:r>
            <a:endParaRPr lang="en-US" sz="7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523744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458968" y="2596896"/>
            <a:ext cx="1243584" cy="184708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897880" y="2724912"/>
            <a:ext cx="365760" cy="365760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5662" y="2812694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58968" y="31272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3364992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13832" y="35844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open “urgent” jobs</a:t>
            </a:r>
            <a:endParaRPr lang="en-US" sz="800" dirty="0"/>
          </a:p>
        </p:txBody>
      </p:sp>
      <p:sp>
        <p:nvSpPr>
          <p:cNvPr id="28" name="Text 20"/>
          <p:cNvSpPr/>
          <p:nvPr/>
        </p:nvSpPr>
        <p:spPr>
          <a:xfrm>
            <a:off x="5504688" y="404164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 paused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2523744"/>
            <a:ext cx="182880" cy="18288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784848" y="2596896"/>
            <a:ext cx="1243584" cy="184708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223760" y="2724912"/>
            <a:ext cx="365760" cy="365760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1542" y="2812694"/>
            <a:ext cx="190195" cy="19019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84848" y="312724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C</a:t>
            </a:r>
            <a:endParaRPr lang="en-US" sz="9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6056" y="3364992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839712" y="3584448"/>
            <a:ext cx="1133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status calls today</a:t>
            </a:r>
            <a:endParaRPr lang="en-US" sz="800" dirty="0"/>
          </a:p>
        </p:txBody>
      </p:sp>
      <p:sp>
        <p:nvSpPr>
          <p:cNvPr id="36" name="Text 25"/>
          <p:cNvSpPr/>
          <p:nvPr/>
        </p:nvSpPr>
        <p:spPr>
          <a:xfrm>
            <a:off x="6830568" y="4041648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 paused</a:t>
            </a:r>
            <a:endParaRPr lang="en-US" sz="7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840" y="2523744"/>
            <a:ext cx="182880" cy="182880"/>
          </a:xfrm>
          <a:prstGeom prst="rect">
            <a:avLst/>
          </a:prstGeom>
        </p:spPr>
      </p:pic>
      <p:sp>
        <p:nvSpPr>
          <p:cNvPr id="38" name="Shape 26"/>
          <p:cNvSpPr/>
          <p:nvPr/>
        </p:nvSpPr>
        <p:spPr>
          <a:xfrm>
            <a:off x="502920" y="141732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630936" y="1618488"/>
            <a:ext cx="329184" cy="329184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940" y="1697492"/>
            <a:ext cx="171176" cy="171176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1024128" y="154533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42" name="Text 29"/>
          <p:cNvSpPr/>
          <p:nvPr/>
        </p:nvSpPr>
        <p:spPr>
          <a:xfrm>
            <a:off x="1024128" y="17830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request</a:t>
            </a:r>
            <a:endParaRPr lang="en-US" sz="80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8528" y="1527048"/>
            <a:ext cx="182880" cy="182880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502920" y="2395728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5" name="Shape 31"/>
          <p:cNvSpPr/>
          <p:nvPr/>
        </p:nvSpPr>
        <p:spPr>
          <a:xfrm>
            <a:off x="630936" y="2596896"/>
            <a:ext cx="329184" cy="329184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9940" y="2675900"/>
            <a:ext cx="171176" cy="171176"/>
          </a:xfrm>
          <a:prstGeom prst="rect">
            <a:avLst/>
          </a:prstGeom>
        </p:spPr>
      </p:pic>
      <p:sp>
        <p:nvSpPr>
          <p:cNvPr id="47" name="Text 32"/>
          <p:cNvSpPr/>
          <p:nvPr/>
        </p:nvSpPr>
        <p:spPr>
          <a:xfrm>
            <a:off x="1024128" y="252374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000" dirty="0"/>
          </a:p>
        </p:txBody>
      </p:sp>
      <p:sp>
        <p:nvSpPr>
          <p:cNvPr id="48" name="Text 33"/>
          <p:cNvSpPr/>
          <p:nvPr/>
        </p:nvSpPr>
        <p:spPr>
          <a:xfrm>
            <a:off x="1024128" y="27614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request</a:t>
            </a:r>
            <a:endParaRPr lang="en-US" sz="800" dirty="0"/>
          </a:p>
        </p:txBody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38528" y="2505456"/>
            <a:ext cx="182880" cy="182880"/>
          </a:xfrm>
          <a:prstGeom prst="rect">
            <a:avLst/>
          </a:prstGeom>
        </p:spPr>
      </p:pic>
      <p:sp>
        <p:nvSpPr>
          <p:cNvPr id="50" name="Shape 34"/>
          <p:cNvSpPr/>
          <p:nvPr/>
        </p:nvSpPr>
        <p:spPr>
          <a:xfrm>
            <a:off x="502920" y="3374136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1" name="Shape 35"/>
          <p:cNvSpPr/>
          <p:nvPr/>
        </p:nvSpPr>
        <p:spPr>
          <a:xfrm>
            <a:off x="630936" y="3575304"/>
            <a:ext cx="329184" cy="329184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940" y="3654308"/>
            <a:ext cx="171176" cy="171176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1024128" y="35021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Office</a:t>
            </a:r>
            <a:endParaRPr lang="en-US" sz="1000" dirty="0"/>
          </a:p>
        </p:txBody>
      </p:sp>
      <p:sp>
        <p:nvSpPr>
          <p:cNvPr id="54" name="Text 37"/>
          <p:cNvSpPr/>
          <p:nvPr/>
        </p:nvSpPr>
        <p:spPr>
          <a:xfrm>
            <a:off x="1024128" y="37398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request</a:t>
            </a:r>
            <a:endParaRPr lang="en-US" sz="800" dirty="0"/>
          </a:p>
        </p:txBody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38528" y="3483864"/>
            <a:ext cx="182880" cy="182880"/>
          </a:xfrm>
          <a:prstGeom prst="rect">
            <a:avLst/>
          </a:prstGeom>
        </p:spPr>
      </p:pic>
      <p:sp>
        <p:nvSpPr>
          <p:cNvPr id="56" name="Shape 38"/>
          <p:cNvSpPr/>
          <p:nvPr/>
        </p:nvSpPr>
        <p:spPr>
          <a:xfrm>
            <a:off x="502920" y="4352544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630936" y="4553712"/>
            <a:ext cx="329184" cy="329184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940" y="4632716"/>
            <a:ext cx="171176" cy="171176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1024128" y="44805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60" name="Text 41"/>
          <p:cNvSpPr/>
          <p:nvPr/>
        </p:nvSpPr>
        <p:spPr>
          <a:xfrm>
            <a:off x="1024128" y="471830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request</a:t>
            </a:r>
            <a:endParaRPr lang="en-US" sz="800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38528" y="4462272"/>
            <a:ext cx="182880" cy="182880"/>
          </a:xfrm>
          <a:prstGeom prst="rect">
            <a:avLst/>
          </a:prstGeom>
        </p:spPr>
      </p:pic>
      <p:sp>
        <p:nvSpPr>
          <p:cNvPr id="62" name="Shape 42"/>
          <p:cNvSpPr/>
          <p:nvPr/>
        </p:nvSpPr>
        <p:spPr>
          <a:xfrm>
            <a:off x="9994392" y="169164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3" name="Shape 43"/>
          <p:cNvSpPr/>
          <p:nvPr/>
        </p:nvSpPr>
        <p:spPr>
          <a:xfrm>
            <a:off x="10122408" y="1892808"/>
            <a:ext cx="329184" cy="329184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6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201412" y="1971812"/>
            <a:ext cx="171176" cy="171176"/>
          </a:xfrm>
          <a:prstGeom prst="rect">
            <a:avLst/>
          </a:prstGeom>
        </p:spPr>
      </p:pic>
      <p:sp>
        <p:nvSpPr>
          <p:cNvPr id="65" name="Text 44"/>
          <p:cNvSpPr/>
          <p:nvPr/>
        </p:nvSpPr>
        <p:spPr>
          <a:xfrm>
            <a:off x="10515600" y="18196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66" name="Text 45"/>
          <p:cNvSpPr/>
          <p:nvPr/>
        </p:nvSpPr>
        <p:spPr>
          <a:xfrm>
            <a:off x="105156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request</a:t>
            </a:r>
            <a:endParaRPr lang="en-US" sz="800" dirty="0"/>
          </a:p>
        </p:txBody>
      </p:sp>
      <p:pic>
        <p:nvPicPr>
          <p:cNvPr id="6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30000" y="1801368"/>
            <a:ext cx="182880" cy="182880"/>
          </a:xfrm>
          <a:prstGeom prst="rect">
            <a:avLst/>
          </a:prstGeom>
        </p:spPr>
      </p:pic>
      <p:sp>
        <p:nvSpPr>
          <p:cNvPr id="68" name="Shape 46"/>
          <p:cNvSpPr/>
          <p:nvPr/>
        </p:nvSpPr>
        <p:spPr>
          <a:xfrm>
            <a:off x="9994392" y="283464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9" name="Shape 47"/>
          <p:cNvSpPr/>
          <p:nvPr/>
        </p:nvSpPr>
        <p:spPr>
          <a:xfrm>
            <a:off x="10122408" y="3035808"/>
            <a:ext cx="329184" cy="329184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7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1412" y="3114812"/>
            <a:ext cx="171176" cy="171176"/>
          </a:xfrm>
          <a:prstGeom prst="rect">
            <a:avLst/>
          </a:prstGeom>
        </p:spPr>
      </p:pic>
      <p:sp>
        <p:nvSpPr>
          <p:cNvPr id="71" name="Text 48"/>
          <p:cNvSpPr/>
          <p:nvPr/>
        </p:nvSpPr>
        <p:spPr>
          <a:xfrm>
            <a:off x="10515600" y="29626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000" dirty="0"/>
          </a:p>
        </p:txBody>
      </p:sp>
      <p:sp>
        <p:nvSpPr>
          <p:cNvPr id="72" name="Text 49"/>
          <p:cNvSpPr/>
          <p:nvPr/>
        </p:nvSpPr>
        <p:spPr>
          <a:xfrm>
            <a:off x="10515600" y="3200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request</a:t>
            </a:r>
            <a:endParaRPr lang="en-US" sz="800" dirty="0"/>
          </a:p>
        </p:txBody>
      </p:sp>
      <p:pic>
        <p:nvPicPr>
          <p:cNvPr id="7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30000" y="2944368"/>
            <a:ext cx="182880" cy="182880"/>
          </a:xfrm>
          <a:prstGeom prst="rect">
            <a:avLst/>
          </a:prstGeom>
        </p:spPr>
      </p:pic>
      <p:sp>
        <p:nvSpPr>
          <p:cNvPr id="74" name="Shape 50"/>
          <p:cNvSpPr/>
          <p:nvPr/>
        </p:nvSpPr>
        <p:spPr>
          <a:xfrm>
            <a:off x="9994392" y="397764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5" name="Shape 51"/>
          <p:cNvSpPr/>
          <p:nvPr/>
        </p:nvSpPr>
        <p:spPr>
          <a:xfrm>
            <a:off x="10122408" y="4178808"/>
            <a:ext cx="329184" cy="329184"/>
          </a:xfrm>
          <a:prstGeom prst="ellipse">
            <a:avLst/>
          </a:prstGeom>
          <a:solidFill>
            <a:srgbClr val="F4F6FA"/>
          </a:solidFill>
          <a:ln/>
        </p:spPr>
      </p:sp>
      <p:pic>
        <p:nvPicPr>
          <p:cNvPr id="7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01412" y="4257812"/>
            <a:ext cx="171176" cy="171176"/>
          </a:xfrm>
          <a:prstGeom prst="rect">
            <a:avLst/>
          </a:prstGeom>
        </p:spPr>
      </p:pic>
      <p:sp>
        <p:nvSpPr>
          <p:cNvPr id="77" name="Text 52"/>
          <p:cNvSpPr/>
          <p:nvPr/>
        </p:nvSpPr>
        <p:spPr>
          <a:xfrm>
            <a:off x="10515600" y="41056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78" name="Text 53"/>
          <p:cNvSpPr/>
          <p:nvPr/>
        </p:nvSpPr>
        <p:spPr>
          <a:xfrm>
            <a:off x="10515600" y="4343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request</a:t>
            </a:r>
            <a:endParaRPr lang="en-US" sz="800" dirty="0"/>
          </a:p>
        </p:txBody>
      </p:sp>
      <p:pic>
        <p:nvPicPr>
          <p:cNvPr id="7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430000" y="4087368"/>
            <a:ext cx="182880" cy="182880"/>
          </a:xfrm>
          <a:prstGeom prst="rect">
            <a:avLst/>
          </a:prstGeom>
        </p:spPr>
      </p:pic>
      <p:sp>
        <p:nvSpPr>
          <p:cNvPr id="80" name="Shape 54"/>
          <p:cNvSpPr/>
          <p:nvPr/>
        </p:nvSpPr>
        <p:spPr>
          <a:xfrm>
            <a:off x="2212848" y="1783080"/>
            <a:ext cx="1947672" cy="237744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1" name="Shape 55"/>
          <p:cNvSpPr/>
          <p:nvPr/>
        </p:nvSpPr>
        <p:spPr>
          <a:xfrm flipV="1">
            <a:off x="2212848" y="2560320"/>
            <a:ext cx="1719072" cy="20116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2" name="Shape 56"/>
          <p:cNvSpPr/>
          <p:nvPr/>
        </p:nvSpPr>
        <p:spPr>
          <a:xfrm flipV="1">
            <a:off x="2212848" y="3035808"/>
            <a:ext cx="2404872" cy="70408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3" name="Shape 57"/>
          <p:cNvSpPr/>
          <p:nvPr/>
        </p:nvSpPr>
        <p:spPr>
          <a:xfrm flipV="1">
            <a:off x="2212848" y="2743200"/>
            <a:ext cx="1719072" cy="1975104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4" name="Shape 58"/>
          <p:cNvSpPr/>
          <p:nvPr/>
        </p:nvSpPr>
        <p:spPr>
          <a:xfrm flipH="1">
            <a:off x="7452360" y="2057400"/>
            <a:ext cx="2523744" cy="198424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5" name="Shape 59"/>
          <p:cNvSpPr/>
          <p:nvPr/>
        </p:nvSpPr>
        <p:spPr>
          <a:xfrm flipH="1" flipV="1">
            <a:off x="8229600" y="2606040"/>
            <a:ext cx="1746504" cy="50292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6" name="Shape 60"/>
          <p:cNvSpPr/>
          <p:nvPr/>
        </p:nvSpPr>
        <p:spPr>
          <a:xfrm flipH="1" flipV="1">
            <a:off x="8229600" y="3401568"/>
            <a:ext cx="1746504" cy="850392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7" name="Text 61"/>
          <p:cNvSpPr/>
          <p:nvPr/>
        </p:nvSpPr>
        <p:spPr>
          <a:xfrm>
            <a:off x="10177272" y="1243584"/>
            <a:ext cx="1481328" cy="274320"/>
          </a:xfrm>
          <a:prstGeom prst="roundRect">
            <a:avLst>
              <a:gd name="adj" fmla="val 18333"/>
            </a:avLst>
          </a:prstGeom>
          <a:solidFill>
            <a:srgbClr val="C0392B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— need it today!</a:t>
            </a:r>
            <a:endParaRPr lang="en-US" sz="800" dirty="0"/>
          </a:p>
        </p:txBody>
      </p:sp>
      <p:sp>
        <p:nvSpPr>
          <p:cNvPr id="88" name="Shape 62"/>
          <p:cNvSpPr/>
          <p:nvPr/>
        </p:nvSpPr>
        <p:spPr>
          <a:xfrm flipH="1">
            <a:off x="7955280" y="1536192"/>
            <a:ext cx="2377440" cy="768096"/>
          </a:xfrm>
          <a:prstGeom prst="line">
            <a:avLst/>
          </a:prstGeom>
          <a:noFill/>
          <a:ln w="15875">
            <a:solidFill>
              <a:srgbClr val="C0392B"/>
            </a:solidFill>
            <a:prstDash val="dash"/>
            <a:tailEnd type="triangle"/>
          </a:ln>
        </p:spPr>
      </p:sp>
      <p:pic>
        <p:nvPicPr>
          <p:cNvPr id="8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71800" y="2468880"/>
            <a:ext cx="182880" cy="182880"/>
          </a:xfrm>
          <a:prstGeom prst="rect">
            <a:avLst/>
          </a:prstGeom>
        </p:spPr>
      </p:pic>
      <p:pic>
        <p:nvPicPr>
          <p:cNvPr id="90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00400" y="3977640"/>
            <a:ext cx="182880" cy="182880"/>
          </a:xfrm>
          <a:prstGeom prst="rect">
            <a:avLst/>
          </a:prstGeom>
        </p:spPr>
      </p:pic>
      <p:pic>
        <p:nvPicPr>
          <p:cNvPr id="91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78240" y="2788920"/>
            <a:ext cx="182880" cy="182880"/>
          </a:xfrm>
          <a:prstGeom prst="rect">
            <a:avLst/>
          </a:prstGeom>
        </p:spPr>
      </p:pic>
      <p:pic>
        <p:nvPicPr>
          <p:cNvPr id="9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06840" y="3703320"/>
            <a:ext cx="182880" cy="182880"/>
          </a:xfrm>
          <a:prstGeom prst="rect">
            <a:avLst/>
          </a:prstGeom>
        </p:spPr>
      </p:pic>
      <p:pic>
        <p:nvPicPr>
          <p:cNvPr id="9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13048" y="2651760"/>
            <a:ext cx="237744" cy="237744"/>
          </a:xfrm>
          <a:prstGeom prst="rect">
            <a:avLst/>
          </a:prstGeom>
        </p:spPr>
      </p:pic>
      <p:pic>
        <p:nvPicPr>
          <p:cNvPr id="9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13048" y="4160520"/>
            <a:ext cx="237744" cy="237744"/>
          </a:xfrm>
          <a:prstGeom prst="rect">
            <a:avLst/>
          </a:prstGeom>
        </p:spPr>
      </p:pic>
      <p:pic>
        <p:nvPicPr>
          <p:cNvPr id="9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10728" y="3017520"/>
            <a:ext cx="237744" cy="237744"/>
          </a:xfrm>
          <a:prstGeom prst="rect">
            <a:avLst/>
          </a:prstGeom>
        </p:spPr>
      </p:pic>
      <p:pic>
        <p:nvPicPr>
          <p:cNvPr id="9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10728" y="4434840"/>
            <a:ext cx="237744" cy="237744"/>
          </a:xfrm>
          <a:prstGeom prst="rect">
            <a:avLst/>
          </a:prstGeom>
        </p:spPr>
      </p:pic>
      <p:sp>
        <p:nvSpPr>
          <p:cNvPr id="97" name="Text 63"/>
          <p:cNvSpPr/>
          <p:nvPr/>
        </p:nvSpPr>
        <p:spPr>
          <a:xfrm>
            <a:off x="2395728" y="1207008"/>
            <a:ext cx="132588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intake</a:t>
            </a:r>
            <a:endParaRPr lang="en-US" sz="850" dirty="0"/>
          </a:p>
        </p:txBody>
      </p:sp>
      <p:sp>
        <p:nvSpPr>
          <p:cNvPr id="98" name="Text 64"/>
          <p:cNvSpPr/>
          <p:nvPr/>
        </p:nvSpPr>
        <p:spPr>
          <a:xfrm>
            <a:off x="2999232" y="3200400"/>
            <a:ext cx="96012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</a:t>
            </a:r>
            <a:endParaRPr lang="en-US" sz="850" dirty="0"/>
          </a:p>
        </p:txBody>
      </p:sp>
      <p:sp>
        <p:nvSpPr>
          <p:cNvPr id="99" name="Text 65"/>
          <p:cNvSpPr/>
          <p:nvPr/>
        </p:nvSpPr>
        <p:spPr>
          <a:xfrm>
            <a:off x="2103120" y="5138928"/>
            <a:ext cx="132588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prioritization</a:t>
            </a:r>
            <a:endParaRPr lang="en-US" sz="850" dirty="0"/>
          </a:p>
        </p:txBody>
      </p:sp>
      <p:sp>
        <p:nvSpPr>
          <p:cNvPr id="100" name="Text 66"/>
          <p:cNvSpPr/>
          <p:nvPr/>
        </p:nvSpPr>
        <p:spPr>
          <a:xfrm>
            <a:off x="4069080" y="5074920"/>
            <a:ext cx="210312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hit engineers directly</a:t>
            </a:r>
            <a:endParaRPr lang="en-US" sz="850" dirty="0"/>
          </a:p>
        </p:txBody>
      </p:sp>
      <p:sp>
        <p:nvSpPr>
          <p:cNvPr id="101" name="Text 67"/>
          <p:cNvSpPr/>
          <p:nvPr/>
        </p:nvSpPr>
        <p:spPr>
          <a:xfrm>
            <a:off x="6355080" y="5074920"/>
            <a:ext cx="196596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changes mid-execution</a:t>
            </a:r>
            <a:endParaRPr lang="en-US" sz="850" dirty="0"/>
          </a:p>
        </p:txBody>
      </p:sp>
      <p:sp>
        <p:nvSpPr>
          <p:cNvPr id="102" name="Text 68"/>
          <p:cNvSpPr/>
          <p:nvPr/>
        </p:nvSpPr>
        <p:spPr>
          <a:xfrm>
            <a:off x="8549640" y="2395728"/>
            <a:ext cx="132588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conflicts</a:t>
            </a:r>
            <a:endParaRPr lang="en-US" sz="850" dirty="0"/>
          </a:p>
        </p:txBody>
      </p:sp>
      <p:sp>
        <p:nvSpPr>
          <p:cNvPr id="103" name="Text 69"/>
          <p:cNvSpPr/>
          <p:nvPr/>
        </p:nvSpPr>
        <p:spPr>
          <a:xfrm>
            <a:off x="8485632" y="5074920"/>
            <a:ext cx="155448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status requests</a:t>
            </a:r>
            <a:endParaRPr lang="en-US" sz="850" dirty="0"/>
          </a:p>
        </p:txBody>
      </p:sp>
      <p:sp>
        <p:nvSpPr>
          <p:cNvPr id="104" name="Text 70"/>
          <p:cNvSpPr/>
          <p:nvPr/>
        </p:nvSpPr>
        <p:spPr>
          <a:xfrm>
            <a:off x="10131552" y="5074920"/>
            <a:ext cx="1554480" cy="274320"/>
          </a:xfrm>
          <a:prstGeom prst="roundRect">
            <a:avLst>
              <a:gd name="adj" fmla="val 18333"/>
            </a:avLst>
          </a:prstGeom>
          <a:solidFill>
            <a:srgbClr val="FBEAE8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dates</a:t>
            </a:r>
            <a:endParaRPr lang="en-US" sz="850" dirty="0"/>
          </a:p>
        </p:txBody>
      </p:sp>
      <p:sp>
        <p:nvSpPr>
          <p:cNvPr id="105" name="Shape 71"/>
          <p:cNvSpPr/>
          <p:nvPr/>
        </p:nvSpPr>
        <p:spPr>
          <a:xfrm>
            <a:off x="502920" y="5870448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FBEAE8"/>
          </a:solidFill>
          <a:ln/>
        </p:spPr>
      </p:sp>
      <p:sp>
        <p:nvSpPr>
          <p:cNvPr id="106" name="Text 72"/>
          <p:cNvSpPr/>
          <p:nvPr/>
        </p:nvSpPr>
        <p:spPr>
          <a:xfrm>
            <a:off x="603504" y="5943600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</a:t>
            </a:r>
            <a:endParaRPr lang="en-US" sz="950" dirty="0"/>
          </a:p>
        </p:txBody>
      </p:sp>
      <p:sp>
        <p:nvSpPr>
          <p:cNvPr id="107" name="Text 73"/>
          <p:cNvSpPr/>
          <p:nvPr/>
        </p:nvSpPr>
        <p:spPr>
          <a:xfrm>
            <a:off x="1417320" y="59436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interruptions</a:t>
            </a:r>
            <a:endParaRPr lang="en-US" sz="820" dirty="0"/>
          </a:p>
        </p:txBody>
      </p:sp>
      <p:sp>
        <p:nvSpPr>
          <p:cNvPr id="108" name="Text 74"/>
          <p:cNvSpPr/>
          <p:nvPr/>
        </p:nvSpPr>
        <p:spPr>
          <a:xfrm>
            <a:off x="2884932" y="59436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820" dirty="0"/>
          </a:p>
        </p:txBody>
      </p:sp>
      <p:sp>
        <p:nvSpPr>
          <p:cNvPr id="109" name="Text 75"/>
          <p:cNvSpPr/>
          <p:nvPr/>
        </p:nvSpPr>
        <p:spPr>
          <a:xfrm>
            <a:off x="4352544" y="59436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workload control</a:t>
            </a:r>
            <a:endParaRPr lang="en-US" sz="820" dirty="0"/>
          </a:p>
        </p:txBody>
      </p:sp>
      <p:sp>
        <p:nvSpPr>
          <p:cNvPr id="110" name="Text 76"/>
          <p:cNvSpPr/>
          <p:nvPr/>
        </p:nvSpPr>
        <p:spPr>
          <a:xfrm>
            <a:off x="5820156" y="59436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 dates</a:t>
            </a:r>
            <a:endParaRPr lang="en-US" sz="820" dirty="0"/>
          </a:p>
        </p:txBody>
      </p:sp>
      <p:sp>
        <p:nvSpPr>
          <p:cNvPr id="111" name="Text 77"/>
          <p:cNvSpPr/>
          <p:nvPr/>
        </p:nvSpPr>
        <p:spPr>
          <a:xfrm>
            <a:off x="7287768" y="59436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productivity</a:t>
            </a:r>
            <a:endParaRPr lang="en-US" sz="820" dirty="0"/>
          </a:p>
        </p:txBody>
      </p:sp>
      <p:sp>
        <p:nvSpPr>
          <p:cNvPr id="112" name="Text 78"/>
          <p:cNvSpPr/>
          <p:nvPr/>
        </p:nvSpPr>
        <p:spPr>
          <a:xfrm>
            <a:off x="8755380" y="59436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</a:t>
            </a:r>
            <a:endParaRPr lang="en-US" sz="820" dirty="0"/>
          </a:p>
        </p:txBody>
      </p:sp>
      <p:sp>
        <p:nvSpPr>
          <p:cNvPr id="113" name="Text 79"/>
          <p:cNvSpPr/>
          <p:nvPr/>
        </p:nvSpPr>
        <p:spPr>
          <a:xfrm>
            <a:off x="10222992" y="5943600"/>
            <a:ext cx="14173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algn="ctr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Coordinators, not designers</a:t>
            </a:r>
            <a:endParaRPr lang="en-US" sz="820" dirty="0"/>
          </a:p>
        </p:txBody>
      </p:sp>
      <p:sp>
        <p:nvSpPr>
          <p:cNvPr id="114" name="Text 80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115" name="Text 81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1F5FA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·  FUTURE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 — the Engineering Design Delivery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2 — the proposed operating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898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936" y="1536192"/>
            <a:ext cx="164592" cy="1645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75688" y="1618488"/>
            <a:ext cx="2331720" cy="777240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02920" y="1956816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95681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210312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75688" y="2185416"/>
            <a:ext cx="2331720" cy="384048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02920" y="2523744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252374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Office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2670048"/>
            <a:ext cx="164592" cy="16459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 flipV="1">
            <a:off x="2075688" y="2743200"/>
            <a:ext cx="2331720" cy="9144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02920" y="3090672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0080" y="309067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936" y="3236976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 flipV="1">
            <a:off x="2075688" y="2395728"/>
            <a:ext cx="2331720" cy="923544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502920" y="3657600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" y="36576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3936" y="3803904"/>
            <a:ext cx="164592" cy="164592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 flipV="1">
            <a:off x="2075688" y="2569464"/>
            <a:ext cx="2331720" cy="1316736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502920" y="4224528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0080" y="422452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9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936" y="4370832"/>
            <a:ext cx="164592" cy="16459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 flipV="1">
            <a:off x="2075688" y="2743200"/>
            <a:ext cx="2331720" cy="1709928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502920" y="4791456"/>
            <a:ext cx="155448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40080" y="47914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9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3936" y="4937760"/>
            <a:ext cx="164592" cy="16459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 flipV="1">
            <a:off x="2075688" y="2395728"/>
            <a:ext cx="2331720" cy="2624328"/>
          </a:xfrm>
          <a:prstGeom prst="line">
            <a:avLst/>
          </a:prstGeom>
          <a:noFill/>
          <a:ln w="12700">
            <a:solidFill>
              <a:srgbClr val="1F5FA8"/>
            </a:solidFill>
            <a:prstDash val="solid"/>
            <a:tailEnd type="triangle"/>
          </a:ln>
        </p:spPr>
      </p:sp>
      <p:sp>
        <p:nvSpPr>
          <p:cNvPr id="34" name="Text 25"/>
          <p:cNvSpPr/>
          <p:nvPr/>
        </p:nvSpPr>
        <p:spPr>
          <a:xfrm>
            <a:off x="457200" y="54681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keep arriving — 24/7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892040" y="115214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5038344" y="1252728"/>
            <a:ext cx="347472" cy="347472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1737" y="1336121"/>
            <a:ext cx="180685" cy="18068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440680" y="11521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Engineering Plan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6217920" y="1719072"/>
            <a:ext cx="0" cy="219456"/>
          </a:xfrm>
          <a:prstGeom prst="line">
            <a:avLst/>
          </a:prstGeom>
          <a:noFill/>
          <a:ln w="19050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40" name="Shape 30"/>
          <p:cNvSpPr/>
          <p:nvPr/>
        </p:nvSpPr>
        <p:spPr>
          <a:xfrm>
            <a:off x="4434840" y="1956816"/>
            <a:ext cx="3566160" cy="841248"/>
          </a:xfrm>
          <a:prstGeom prst="roundRect">
            <a:avLst>
              <a:gd name="adj" fmla="val 7609"/>
            </a:avLst>
          </a:prstGeom>
          <a:solidFill>
            <a:srgbClr val="1F5FA8"/>
          </a:solidFill>
          <a:ln/>
        </p:spPr>
      </p:sp>
      <p:sp>
        <p:nvSpPr>
          <p:cNvPr id="41" name="Shape 31"/>
          <p:cNvSpPr/>
          <p:nvPr/>
        </p:nvSpPr>
        <p:spPr>
          <a:xfrm>
            <a:off x="4636008" y="2148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5736" y="2258568"/>
            <a:ext cx="237744" cy="23774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193792" y="2048256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INTAKE</a:t>
            </a:r>
            <a:endParaRPr lang="en-US" sz="1350" dirty="0"/>
          </a:p>
        </p:txBody>
      </p:sp>
      <p:sp>
        <p:nvSpPr>
          <p:cNvPr id="44" name="Text 33"/>
          <p:cNvSpPr/>
          <p:nvPr/>
        </p:nvSpPr>
        <p:spPr>
          <a:xfrm>
            <a:off x="5193792" y="2304288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— no engineer receives requests directly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6217920" y="2816352"/>
            <a:ext cx="0" cy="219456"/>
          </a:xfrm>
          <a:prstGeom prst="line">
            <a:avLst/>
          </a:prstGeom>
          <a:noFill/>
          <a:ln w="19050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46" name="Shape 35"/>
          <p:cNvSpPr/>
          <p:nvPr/>
        </p:nvSpPr>
        <p:spPr>
          <a:xfrm>
            <a:off x="4206240" y="3054096"/>
            <a:ext cx="4023360" cy="1188720"/>
          </a:xfrm>
          <a:prstGeom prst="roundRect">
            <a:avLst>
              <a:gd name="adj" fmla="val 5385"/>
            </a:avLst>
          </a:prstGeom>
          <a:solidFill>
            <a:srgbClr val="F4F6FA"/>
          </a:solidFill>
          <a:ln w="9525">
            <a:solidFill>
              <a:srgbClr val="162447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4206240" y="31272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PIPELINE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4434840" y="3401568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4434840" y="34381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00" dirty="0"/>
          </a:p>
        </p:txBody>
      </p:sp>
      <p:sp>
        <p:nvSpPr>
          <p:cNvPr id="50" name="Text 39"/>
          <p:cNvSpPr/>
          <p:nvPr/>
        </p:nvSpPr>
        <p:spPr>
          <a:xfrm>
            <a:off x="4434840" y="36027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5157216" y="3401568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5157216" y="34381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00" dirty="0"/>
          </a:p>
        </p:txBody>
      </p:sp>
      <p:sp>
        <p:nvSpPr>
          <p:cNvPr id="53" name="Text 42"/>
          <p:cNvSpPr/>
          <p:nvPr/>
        </p:nvSpPr>
        <p:spPr>
          <a:xfrm>
            <a:off x="5157216" y="36027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5879592" y="3401568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879592" y="34381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00" dirty="0"/>
          </a:p>
        </p:txBody>
      </p:sp>
      <p:sp>
        <p:nvSpPr>
          <p:cNvPr id="56" name="Text 45"/>
          <p:cNvSpPr/>
          <p:nvPr/>
        </p:nvSpPr>
        <p:spPr>
          <a:xfrm>
            <a:off x="5879592" y="36027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>
            <a:off x="6601968" y="3401568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58" name="Text 47"/>
          <p:cNvSpPr/>
          <p:nvPr/>
        </p:nvSpPr>
        <p:spPr>
          <a:xfrm>
            <a:off x="6601968" y="34381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00" dirty="0"/>
          </a:p>
        </p:txBody>
      </p:sp>
      <p:sp>
        <p:nvSpPr>
          <p:cNvPr id="59" name="Text 48"/>
          <p:cNvSpPr/>
          <p:nvPr/>
        </p:nvSpPr>
        <p:spPr>
          <a:xfrm>
            <a:off x="6601968" y="36027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7324344" y="3401568"/>
            <a:ext cx="60350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7324344" y="343814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endParaRPr lang="en-US" sz="700" dirty="0"/>
          </a:p>
        </p:txBody>
      </p:sp>
      <p:sp>
        <p:nvSpPr>
          <p:cNvPr id="62" name="Text 51"/>
          <p:cNvSpPr/>
          <p:nvPr/>
        </p:nvSpPr>
        <p:spPr>
          <a:xfrm>
            <a:off x="7324344" y="3602736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63" name="Text 52"/>
          <p:cNvSpPr/>
          <p:nvPr/>
        </p:nvSpPr>
        <p:spPr>
          <a:xfrm>
            <a:off x="4206240" y="39319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logged, scored and visible — nothing gets lost</a:t>
            </a:r>
            <a:endParaRPr lang="en-US" sz="850" dirty="0"/>
          </a:p>
        </p:txBody>
      </p:sp>
      <p:sp>
        <p:nvSpPr>
          <p:cNvPr id="64" name="Shape 53"/>
          <p:cNvSpPr/>
          <p:nvPr/>
        </p:nvSpPr>
        <p:spPr>
          <a:xfrm>
            <a:off x="6217920" y="4261104"/>
            <a:ext cx="0" cy="219456"/>
          </a:xfrm>
          <a:prstGeom prst="line">
            <a:avLst/>
          </a:prstGeom>
          <a:noFill/>
          <a:ln w="19050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65" name="Text 54"/>
          <p:cNvSpPr/>
          <p:nvPr/>
        </p:nvSpPr>
        <p:spPr>
          <a:xfrm>
            <a:off x="8732520" y="2834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CARRIES</a:t>
            </a:r>
            <a:endParaRPr lang="en-US" sz="900" dirty="0"/>
          </a:p>
        </p:txBody>
      </p:sp>
      <p:sp>
        <p:nvSpPr>
          <p:cNvPr id="66" name="Text 55"/>
          <p:cNvSpPr/>
          <p:nvPr/>
        </p:nvSpPr>
        <p:spPr>
          <a:xfrm>
            <a:off x="8732520" y="3108960"/>
            <a:ext cx="160020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00" dirty="0"/>
          </a:p>
        </p:txBody>
      </p:sp>
      <p:sp>
        <p:nvSpPr>
          <p:cNvPr id="67" name="Text 56"/>
          <p:cNvSpPr/>
          <p:nvPr/>
        </p:nvSpPr>
        <p:spPr>
          <a:xfrm>
            <a:off x="8732520" y="3456432"/>
            <a:ext cx="160020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68" name="Text 57"/>
          <p:cNvSpPr/>
          <p:nvPr/>
        </p:nvSpPr>
        <p:spPr>
          <a:xfrm>
            <a:off x="8732520" y="3803904"/>
            <a:ext cx="160020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Date</a:t>
            </a:r>
            <a:endParaRPr lang="en-US" sz="900" dirty="0"/>
          </a:p>
        </p:txBody>
      </p:sp>
      <p:sp>
        <p:nvSpPr>
          <p:cNvPr id="69" name="Text 58"/>
          <p:cNvSpPr/>
          <p:nvPr/>
        </p:nvSpPr>
        <p:spPr>
          <a:xfrm>
            <a:off x="8732520" y="4151376"/>
            <a:ext cx="160020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900" dirty="0"/>
          </a:p>
        </p:txBody>
      </p:sp>
      <p:sp>
        <p:nvSpPr>
          <p:cNvPr id="70" name="Text 59"/>
          <p:cNvSpPr/>
          <p:nvPr/>
        </p:nvSpPr>
        <p:spPr>
          <a:xfrm>
            <a:off x="8732520" y="4498848"/>
            <a:ext cx="160020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Effort</a:t>
            </a:r>
            <a:endParaRPr lang="en-US" sz="900" dirty="0"/>
          </a:p>
        </p:txBody>
      </p:sp>
      <p:sp>
        <p:nvSpPr>
          <p:cNvPr id="71" name="Text 60"/>
          <p:cNvSpPr/>
          <p:nvPr/>
        </p:nvSpPr>
        <p:spPr>
          <a:xfrm>
            <a:off x="8732520" y="4846320"/>
            <a:ext cx="160020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72" name="Text 61"/>
          <p:cNvSpPr/>
          <p:nvPr/>
        </p:nvSpPr>
        <p:spPr>
          <a:xfrm>
            <a:off x="8732520" y="5193792"/>
            <a:ext cx="160020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73" name="Shape 62"/>
          <p:cNvSpPr/>
          <p:nvPr/>
        </p:nvSpPr>
        <p:spPr>
          <a:xfrm>
            <a:off x="8247888" y="3657600"/>
            <a:ext cx="438912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>
            <a:off x="4206240" y="4498848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162447"/>
          </a:solidFill>
          <a:ln/>
        </p:spPr>
      </p:sp>
      <p:sp>
        <p:nvSpPr>
          <p:cNvPr id="75" name="Shape 64"/>
          <p:cNvSpPr/>
          <p:nvPr/>
        </p:nvSpPr>
        <p:spPr>
          <a:xfrm>
            <a:off x="4416552" y="4709160"/>
            <a:ext cx="457200" cy="457200"/>
          </a:xfrm>
          <a:prstGeom prst="ellipse">
            <a:avLst/>
          </a:prstGeom>
          <a:solidFill>
            <a:srgbClr val="223560"/>
          </a:solidFill>
          <a:ln/>
        </p:spPr>
      </p:sp>
      <p:pic>
        <p:nvPicPr>
          <p:cNvPr id="7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6280" y="4818888"/>
            <a:ext cx="237744" cy="237744"/>
          </a:xfrm>
          <a:prstGeom prst="rect">
            <a:avLst/>
          </a:prstGeom>
        </p:spPr>
      </p:pic>
      <p:sp>
        <p:nvSpPr>
          <p:cNvPr id="77" name="Text 65"/>
          <p:cNvSpPr/>
          <p:nvPr/>
        </p:nvSpPr>
        <p:spPr>
          <a:xfrm>
            <a:off x="4974336" y="4572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ENGINEERING PLANNING SESSION</a:t>
            </a:r>
            <a:endParaRPr lang="en-US" sz="1150" dirty="0"/>
          </a:p>
        </p:txBody>
      </p:sp>
      <p:sp>
        <p:nvSpPr>
          <p:cNvPr id="78" name="Text 66"/>
          <p:cNvSpPr/>
          <p:nvPr/>
        </p:nvSpPr>
        <p:spPr>
          <a:xfrm>
            <a:off x="4974336" y="482803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+ stakeholders decide:  Priorities · Scope · Capacity · Delivery commitments</a:t>
            </a:r>
            <a:endParaRPr lang="en-US" sz="850" dirty="0"/>
          </a:p>
        </p:txBody>
      </p:sp>
      <p:sp>
        <p:nvSpPr>
          <p:cNvPr id="79" name="Shape 67"/>
          <p:cNvSpPr/>
          <p:nvPr/>
        </p:nvSpPr>
        <p:spPr>
          <a:xfrm>
            <a:off x="6217920" y="5385816"/>
            <a:ext cx="0" cy="192024"/>
          </a:xfrm>
          <a:prstGeom prst="line">
            <a:avLst/>
          </a:prstGeom>
          <a:noFill/>
          <a:ln w="19050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80" name="Shape 68"/>
          <p:cNvSpPr/>
          <p:nvPr/>
        </p:nvSpPr>
        <p:spPr>
          <a:xfrm>
            <a:off x="4206240" y="5596128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1E7A46"/>
          </a:solidFill>
          <a:ln/>
        </p:spPr>
      </p:sp>
      <p:pic>
        <p:nvPicPr>
          <p:cNvPr id="8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6280" y="5742432"/>
            <a:ext cx="256032" cy="256032"/>
          </a:xfrm>
          <a:prstGeom prst="rect">
            <a:avLst/>
          </a:prstGeom>
        </p:spPr>
      </p:pic>
      <p:sp>
        <p:nvSpPr>
          <p:cNvPr id="82" name="Text 69"/>
          <p:cNvSpPr/>
          <p:nvPr/>
        </p:nvSpPr>
        <p:spPr>
          <a:xfrm>
            <a:off x="4892040" y="559612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RELEASED:  Work Package  →  Engineering Team</a:t>
            </a:r>
            <a:endParaRPr lang="en-US" sz="1150" dirty="0"/>
          </a:p>
        </p:txBody>
      </p:sp>
      <p:sp>
        <p:nvSpPr>
          <p:cNvPr id="83" name="Text 70"/>
          <p:cNvSpPr/>
          <p:nvPr/>
        </p:nvSpPr>
        <p:spPr>
          <a:xfrm>
            <a:off x="8732520" y="56509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planning is work released — nothing bypasses the gate.</a:t>
            </a:r>
            <a:endParaRPr lang="en-US" sz="1000" dirty="0"/>
          </a:p>
        </p:txBody>
      </p:sp>
      <p:sp>
        <p:nvSpPr>
          <p:cNvPr id="84" name="Text 71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85" name="Text 72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1F5FA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·  FUTURE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Pipeline — every request follows one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email to delivered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2103120" cy="274320"/>
          </a:xfrm>
          <a:prstGeom prst="roundRect">
            <a:avLst>
              <a:gd name="adj" fmla="val 18333"/>
            </a:avLst>
          </a:prstGeom>
          <a:solidFill>
            <a:srgbClr val="E9F1FA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INTAKE · 1–3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2651760" cy="274320"/>
          </a:xfrm>
          <a:prstGeom prst="roundRect">
            <a:avLst>
              <a:gd name="adj" fmla="val 18333"/>
            </a:avLst>
          </a:prstGeom>
          <a:solidFill>
            <a:srgbClr val="E4E9F4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PLANNING · 4–7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23560" y="1371600"/>
            <a:ext cx="2651760" cy="274320"/>
          </a:xfrm>
          <a:prstGeom prst="roundRect">
            <a:avLst>
              <a:gd name="adj" fmla="val 18333"/>
            </a:avLst>
          </a:prstGeom>
          <a:solidFill>
            <a:srgbClr val="E7F4EC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&amp; DELIVERY · 8–10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F5F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11680"/>
            <a:ext cx="384048" cy="384048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04" y="2103852"/>
            <a:ext cx="199705" cy="19970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76272" y="1965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" y="24597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Received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4088" y="26974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at central intake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679192" y="2478024"/>
            <a:ext cx="164592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43784" y="187452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F5F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62656" y="2011680"/>
            <a:ext cx="384048" cy="384048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828" y="2103852"/>
            <a:ext cx="199705" cy="19970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25696" y="1965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953512" y="24597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Review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953512" y="26974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engineering work?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928616" y="2478024"/>
            <a:ext cx="164592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093208" y="187452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F5FA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12080" y="2011680"/>
            <a:ext cx="384048" cy="384048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252" y="2103852"/>
            <a:ext cx="199705" cy="19970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75120" y="1965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02936" y="24597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Validation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5202936" y="26974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brief? Data ready?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7178040" y="2478024"/>
            <a:ext cx="164592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342632" y="187452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6244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61504" y="2011680"/>
            <a:ext cx="384048" cy="384048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676" y="2103852"/>
            <a:ext cx="199705" cy="19970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924544" y="1965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452360" y="24597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Pipeline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452360" y="26974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&amp; visible to all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9427464" y="2478024"/>
            <a:ext cx="164592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9592056" y="187452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62447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710928" y="2011680"/>
            <a:ext cx="384048" cy="384048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100" y="2103852"/>
            <a:ext cx="199705" cy="199705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173968" y="19659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9701784" y="245973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9701784" y="269748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× business value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10634472" y="3081528"/>
            <a:ext cx="0" cy="667512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43" name="Shape 36"/>
          <p:cNvSpPr/>
          <p:nvPr/>
        </p:nvSpPr>
        <p:spPr>
          <a:xfrm>
            <a:off x="9592056" y="374904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62447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9710928" y="3886200"/>
            <a:ext cx="384048" cy="384048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3100" y="3978372"/>
            <a:ext cx="199705" cy="19970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1173968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9701784" y="43342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9701784" y="45720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slots per capability?</a:t>
            </a:r>
            <a:endParaRPr lang="en-US" sz="800" dirty="0"/>
          </a:p>
        </p:txBody>
      </p:sp>
      <p:sp>
        <p:nvSpPr>
          <p:cNvPr id="49" name="Shape 41"/>
          <p:cNvSpPr/>
          <p:nvPr/>
        </p:nvSpPr>
        <p:spPr>
          <a:xfrm flipH="1">
            <a:off x="9425178" y="4352544"/>
            <a:ext cx="166878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7342632" y="374904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62447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7461504" y="3886200"/>
            <a:ext cx="384048" cy="384048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676" y="3978372"/>
            <a:ext cx="199705" cy="199705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8924544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7452360" y="43342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Creation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7452360" y="45720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scope for the cycle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 flipH="1">
            <a:off x="7175754" y="4352544"/>
            <a:ext cx="166878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57" name="Shape 48"/>
          <p:cNvSpPr/>
          <p:nvPr/>
        </p:nvSpPr>
        <p:spPr>
          <a:xfrm>
            <a:off x="5093208" y="374904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5212080" y="3886200"/>
            <a:ext cx="384048" cy="384048"/>
          </a:xfrm>
          <a:prstGeom prst="ellipse">
            <a:avLst/>
          </a:prstGeom>
          <a:solidFill>
            <a:srgbClr val="E7F4EC"/>
          </a:solidFill>
          <a:ln/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4252" y="3978372"/>
            <a:ext cx="199705" cy="199705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6675120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61" name="Text 51"/>
          <p:cNvSpPr/>
          <p:nvPr/>
        </p:nvSpPr>
        <p:spPr>
          <a:xfrm>
            <a:off x="5202936" y="43342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Execution</a:t>
            </a:r>
            <a:endParaRPr lang="en-US" sz="1050" dirty="0"/>
          </a:p>
        </p:txBody>
      </p:sp>
      <p:sp>
        <p:nvSpPr>
          <p:cNvPr id="62" name="Text 52"/>
          <p:cNvSpPr/>
          <p:nvPr/>
        </p:nvSpPr>
        <p:spPr>
          <a:xfrm>
            <a:off x="5202936" y="45720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design work</a:t>
            </a:r>
            <a:endParaRPr lang="en-US" sz="800" dirty="0"/>
          </a:p>
        </p:txBody>
      </p:sp>
      <p:sp>
        <p:nvSpPr>
          <p:cNvPr id="63" name="Shape 53"/>
          <p:cNvSpPr/>
          <p:nvPr/>
        </p:nvSpPr>
        <p:spPr>
          <a:xfrm flipH="1">
            <a:off x="4926330" y="4352544"/>
            <a:ext cx="166878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64" name="Shape 54"/>
          <p:cNvSpPr/>
          <p:nvPr/>
        </p:nvSpPr>
        <p:spPr>
          <a:xfrm>
            <a:off x="2843784" y="374904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2962656" y="3886200"/>
            <a:ext cx="384048" cy="384048"/>
          </a:xfrm>
          <a:prstGeom prst="ellipse">
            <a:avLst/>
          </a:prstGeom>
          <a:solidFill>
            <a:srgbClr val="E7F4EC"/>
          </a:solidFill>
          <a:ln/>
        </p:spPr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4828" y="3978372"/>
            <a:ext cx="199705" cy="199705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4425696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68" name="Text 57"/>
          <p:cNvSpPr/>
          <p:nvPr/>
        </p:nvSpPr>
        <p:spPr>
          <a:xfrm>
            <a:off x="2953512" y="43342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050" dirty="0"/>
          </a:p>
        </p:txBody>
      </p:sp>
      <p:sp>
        <p:nvSpPr>
          <p:cNvPr id="69" name="Text 58"/>
          <p:cNvSpPr/>
          <p:nvPr/>
        </p:nvSpPr>
        <p:spPr>
          <a:xfrm>
            <a:off x="2953512" y="45720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&amp; checks</a:t>
            </a:r>
            <a:endParaRPr lang="en-US" sz="800" dirty="0"/>
          </a:p>
        </p:txBody>
      </p:sp>
      <p:sp>
        <p:nvSpPr>
          <p:cNvPr id="70" name="Shape 59"/>
          <p:cNvSpPr/>
          <p:nvPr/>
        </p:nvSpPr>
        <p:spPr>
          <a:xfrm flipH="1">
            <a:off x="2676906" y="4352544"/>
            <a:ext cx="166878" cy="0"/>
          </a:xfrm>
          <a:prstGeom prst="line">
            <a:avLst/>
          </a:prstGeom>
          <a:noFill/>
          <a:ln w="1587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71" name="Shape 60"/>
          <p:cNvSpPr/>
          <p:nvPr/>
        </p:nvSpPr>
        <p:spPr>
          <a:xfrm>
            <a:off x="594360" y="3749040"/>
            <a:ext cx="2084832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5875">
            <a:solidFill>
              <a:srgbClr val="1E7A46"/>
            </a:solidFill>
            <a:prstDash val="solid"/>
          </a:ln>
        </p:spPr>
      </p:sp>
      <p:sp>
        <p:nvSpPr>
          <p:cNvPr id="72" name="Shape 61"/>
          <p:cNvSpPr/>
          <p:nvPr/>
        </p:nvSpPr>
        <p:spPr>
          <a:xfrm>
            <a:off x="713232" y="3886200"/>
            <a:ext cx="384048" cy="384048"/>
          </a:xfrm>
          <a:prstGeom prst="ellipse">
            <a:avLst/>
          </a:prstGeom>
          <a:solidFill>
            <a:srgbClr val="E7F4EC"/>
          </a:solidFill>
          <a:ln/>
        </p:spPr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404" y="3978372"/>
            <a:ext cx="199705" cy="199705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2176272" y="38404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75" name="Text 63"/>
          <p:cNvSpPr/>
          <p:nvPr/>
        </p:nvSpPr>
        <p:spPr>
          <a:xfrm>
            <a:off x="704088" y="433425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50" dirty="0"/>
          </a:p>
        </p:txBody>
      </p:sp>
      <p:sp>
        <p:nvSpPr>
          <p:cNvPr id="76" name="Text 64"/>
          <p:cNvSpPr/>
          <p:nvPr/>
        </p:nvSpPr>
        <p:spPr>
          <a:xfrm>
            <a:off x="704088" y="4572000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date met</a:t>
            </a:r>
            <a:endParaRPr lang="en-US" sz="800" dirty="0"/>
          </a:p>
        </p:txBody>
      </p:sp>
      <p:sp>
        <p:nvSpPr>
          <p:cNvPr id="77" name="Shape 65"/>
          <p:cNvSpPr/>
          <p:nvPr/>
        </p:nvSpPr>
        <p:spPr>
          <a:xfrm>
            <a:off x="9244584" y="3584448"/>
            <a:ext cx="329184" cy="329184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7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880" y="3666744"/>
            <a:ext cx="164592" cy="164592"/>
          </a:xfrm>
          <a:prstGeom prst="rect">
            <a:avLst/>
          </a:prstGeom>
        </p:spPr>
      </p:pic>
      <p:sp>
        <p:nvSpPr>
          <p:cNvPr id="79" name="Shape 66"/>
          <p:cNvSpPr/>
          <p:nvPr/>
        </p:nvSpPr>
        <p:spPr>
          <a:xfrm>
            <a:off x="594360" y="5175504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4F6FA"/>
          </a:solidFill>
          <a:ln/>
        </p:spPr>
      </p:sp>
      <p:sp>
        <p:nvSpPr>
          <p:cNvPr id="80" name="Text 67"/>
          <p:cNvSpPr/>
          <p:nvPr/>
        </p:nvSpPr>
        <p:spPr>
          <a:xfrm>
            <a:off x="594360" y="5175504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1–7 absorb and govern demand.  </a:t>
            </a:r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only ever see stages 8–10 — released, planned, capacity-checked work.</a:t>
            </a:r>
            <a:endParaRPr lang="en-US" sz="1200" dirty="0"/>
          </a:p>
        </p:txBody>
      </p:sp>
      <p:sp>
        <p:nvSpPr>
          <p:cNvPr id="81" name="Text 68"/>
          <p:cNvSpPr/>
          <p:nvPr/>
        </p:nvSpPr>
        <p:spPr>
          <a:xfrm>
            <a:off x="594360" y="5833872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engineering delivery pipeline — inspired by flow principles, designed for engineering design work (not a software process).</a:t>
            </a:r>
            <a:endParaRPr lang="en-US" sz="950" dirty="0"/>
          </a:p>
        </p:txBody>
      </p:sp>
      <p:sp>
        <p:nvSpPr>
          <p:cNvPr id="82" name="Text 69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83" name="Text 70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1F5FA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·  FUTURE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unlimited demand against fixed capacity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by capacity — not by urgency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749040" cy="4480560"/>
          </a:xfrm>
          <a:prstGeom prst="roundRect">
            <a:avLst>
              <a:gd name="adj" fmla="val 1707"/>
            </a:avLst>
          </a:prstGeom>
          <a:solidFill>
            <a:srgbClr val="FDF8F0"/>
          </a:solidFill>
          <a:ln w="9525">
            <a:solidFill>
              <a:srgbClr val="EAD9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DEMAND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367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· unbounded · from every department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874520" y="20299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engineering requests received this week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-120000">
            <a:off x="749808" y="288036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REQ-112 · Retail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 rot="90000">
            <a:off x="1901952" y="288036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REQ-113 · Security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 rot="-60000">
            <a:off x="3054096" y="288036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REQ-114 · CEO Office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 rot="120000">
            <a:off x="749808" y="342900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REQ-115 · Facilities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 rot="-90000">
            <a:off x="1901952" y="342900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REQ-116 · Operations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 rot="60000">
            <a:off x="3054096" y="342900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REQ-117 · Projects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 rot="-120000">
            <a:off x="749808" y="397764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REQ-118 · Real Estate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 rot="90000">
            <a:off x="1901952" y="397764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REQ-119 · Retail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 rot="-60000">
            <a:off x="3054096" y="397764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REQ-120 · Operations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 rot="120000">
            <a:off x="749808" y="452628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REQ-121 · Facilities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 rot="-90000">
            <a:off x="1901952" y="452628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REQ-122 · Security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 rot="60000">
            <a:off x="3054096" y="4526280"/>
            <a:ext cx="1060704" cy="40233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3CF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REQ-123 · Retail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more arriving every day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53228" y="2080260"/>
            <a:ext cx="868680" cy="86868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1711" y="2288743"/>
            <a:ext cx="451714" cy="45171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315968" y="3063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PLANNING SESSION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315968" y="2514600"/>
            <a:ext cx="859536" cy="0"/>
          </a:xfrm>
          <a:prstGeom prst="line">
            <a:avLst/>
          </a:prstGeom>
          <a:noFill/>
          <a:ln w="2222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199632" y="2514600"/>
            <a:ext cx="1042416" cy="0"/>
          </a:xfrm>
          <a:prstGeom prst="line">
            <a:avLst/>
          </a:prstGeom>
          <a:noFill/>
          <a:ln w="2222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343400" y="3520440"/>
            <a:ext cx="26974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43400" y="361188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DECISION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480560" y="38404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× Business Value × Available Capacity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206240" y="47091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urgency    </a:t>
            </a:r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who shouts loudest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206240" y="5074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exceeds capacity every week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decides what wins, openly.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315200" y="1234440"/>
            <a:ext cx="4370832" cy="4480560"/>
          </a:xfrm>
          <a:prstGeom prst="roundRect">
            <a:avLst>
              <a:gd name="adj" fmla="val 1464"/>
            </a:avLst>
          </a:prstGeom>
          <a:solidFill>
            <a:srgbClr val="E9F1FA"/>
          </a:solidFill>
          <a:ln w="9525">
            <a:solidFill>
              <a:srgbClr val="C4D6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0" y="1371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CAPACITY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498080" y="16367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weekly slots per engineering capability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498080" y="20848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372600" y="2103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38360" y="2103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104120" y="210312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1018520" y="208483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wk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498080" y="2606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372600" y="26243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738360" y="262432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1018520" y="26060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wk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498080" y="31272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Evaluation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372600" y="31455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738360" y="314553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1018520" y="312724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wk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7498080" y="364845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Planning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372600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738360" y="366674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018520" y="364845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wk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7498080" y="41696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Preparation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372600" y="41879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738360" y="41879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104120" y="41879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018520" y="416966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wk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498080" y="46908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9372600" y="47091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738360" y="47091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0104120" y="47091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0469880" y="47091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F5FA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1018520" y="469087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wk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7498080" y="5285232"/>
            <a:ext cx="4005072" cy="0"/>
          </a:xfrm>
          <a:prstGeom prst="line">
            <a:avLst/>
          </a:prstGeom>
          <a:noFill/>
          <a:ln w="12700">
            <a:solidFill>
              <a:srgbClr val="C4D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498080" y="53766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capacity:  </a:t>
            </a:r>
            <a:pPr indent="0" marL="0">
              <a:buNone/>
            </a:pPr>
            <a:r>
              <a:rPr lang="en-US" sz="1100" b="1" dirty="0">
                <a:solidFill>
                  <a:srgbClr val="1F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project slots / week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502920" y="5943600"/>
            <a:ext cx="11183112" cy="502920"/>
          </a:xfrm>
          <a:prstGeom prst="roundRect">
            <a:avLst>
              <a:gd name="adj" fmla="val 12727"/>
            </a:avLst>
          </a:prstGeom>
          <a:solidFill>
            <a:srgbClr val="162447"/>
          </a:solidFill>
          <a:ln/>
        </p:spPr>
      </p:sp>
      <p:sp>
        <p:nvSpPr>
          <p:cNvPr id="67" name="Text 64"/>
          <p:cNvSpPr/>
          <p:nvPr/>
        </p:nvSpPr>
        <p:spPr>
          <a:xfrm>
            <a:off x="685800" y="5943600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can complete 3 projects this week → only 3 are released. Everything else waits safely in the pipeline.</a:t>
            </a:r>
            <a:endParaRPr lang="en-US" sz="1150" dirty="0"/>
          </a:p>
        </p:txBody>
      </p:sp>
      <p:sp>
        <p:nvSpPr>
          <p:cNvPr id="68" name="Text 65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1F5FA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·  FUTURE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released Work Package is a commitment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scope · protected team · committed date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645920"/>
            <a:ext cx="457200" cy="457200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17556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PLANNING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4871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reviewed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checked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approved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61488" y="2423160"/>
            <a:ext cx="438912" cy="0"/>
          </a:xfrm>
          <a:prstGeom prst="line">
            <a:avLst/>
          </a:prstGeom>
          <a:noFill/>
          <a:ln w="2222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246120" y="1325880"/>
            <a:ext cx="35661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22225">
            <a:solidFill>
              <a:srgbClr val="16244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48132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PACKAGE 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74536" y="1143000"/>
            <a:ext cx="420624" cy="420624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92" y="1248156"/>
            <a:ext cx="210312" cy="21031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456432" y="1865376"/>
            <a:ext cx="3145536" cy="402336"/>
          </a:xfrm>
          <a:prstGeom prst="roundRect">
            <a:avLst>
              <a:gd name="adj" fmla="val 15909"/>
            </a:avLst>
          </a:prstGeom>
          <a:solidFill>
            <a:srgbClr val="F4F6F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1984248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40480" y="1865376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— Architectural Design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456432" y="2340864"/>
            <a:ext cx="3145536" cy="402336"/>
          </a:xfrm>
          <a:prstGeom prst="roundRect">
            <a:avLst>
              <a:gd name="adj" fmla="val 15909"/>
            </a:avLst>
          </a:prstGeom>
          <a:solidFill>
            <a:srgbClr val="F4F6F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2459736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40480" y="234086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Cost Estimation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456432" y="2816352"/>
            <a:ext cx="3145536" cy="402336"/>
          </a:xfrm>
          <a:prstGeom prst="roundRect">
            <a:avLst>
              <a:gd name="adj" fmla="val 15909"/>
            </a:avLst>
          </a:prstGeom>
          <a:solidFill>
            <a:srgbClr val="F4F6FA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2935224"/>
            <a:ext cx="164592" cy="16459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40480" y="281635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— Site Evaluation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3456432" y="33101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locked at release — no additions mid-cycle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6830568" y="2423160"/>
            <a:ext cx="438912" cy="0"/>
          </a:xfrm>
          <a:prstGeom prst="line">
            <a:avLst/>
          </a:prstGeom>
          <a:noFill/>
          <a:ln w="2222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27" name="Shape 19"/>
          <p:cNvSpPr/>
          <p:nvPr/>
        </p:nvSpPr>
        <p:spPr>
          <a:xfrm>
            <a:off x="7315200" y="1417320"/>
            <a:ext cx="21031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8138160" y="1645920"/>
            <a:ext cx="457200" cy="457200"/>
          </a:xfrm>
          <a:prstGeom prst="ellipse">
            <a:avLst/>
          </a:prstGeom>
          <a:solidFill>
            <a:srgbClr val="E9F1FA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7888" y="1755648"/>
            <a:ext cx="237744" cy="23774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315200" y="21945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7315200" y="24871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on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during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agreed cycle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9436608" y="2423160"/>
            <a:ext cx="438912" cy="0"/>
          </a:xfrm>
          <a:prstGeom prst="line">
            <a:avLst/>
          </a:prstGeom>
          <a:noFill/>
          <a:ln w="22225">
            <a:solidFill>
              <a:srgbClr val="162447"/>
            </a:solidFill>
            <a:prstDash val="solid"/>
            <a:tailEnd type="triangle"/>
          </a:ln>
        </p:spPr>
      </p:sp>
      <p:sp>
        <p:nvSpPr>
          <p:cNvPr id="33" name="Shape 24"/>
          <p:cNvSpPr/>
          <p:nvPr/>
        </p:nvSpPr>
        <p:spPr>
          <a:xfrm>
            <a:off x="9921240" y="1417320"/>
            <a:ext cx="1783080" cy="2011680"/>
          </a:xfrm>
          <a:prstGeom prst="roundRect">
            <a:avLst>
              <a:gd name="adj" fmla="val 3590"/>
            </a:avLst>
          </a:prstGeom>
          <a:solidFill>
            <a:srgbClr val="E7F4EC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10579608" y="1645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9336" y="1755648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921240" y="219456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DELIVERY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10012680" y="2633472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Week 4 — a date stakeholders can trust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822960" y="4041648"/>
            <a:ext cx="19659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4" y="4224528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316736" y="404164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urgent request arrives mid-cycle</a:t>
            </a:r>
            <a:endParaRPr lang="en-US" sz="850" dirty="0"/>
          </a:p>
        </p:txBody>
      </p:sp>
      <p:sp>
        <p:nvSpPr>
          <p:cNvPr id="41" name="Shape 30"/>
          <p:cNvSpPr/>
          <p:nvPr/>
        </p:nvSpPr>
        <p:spPr>
          <a:xfrm>
            <a:off x="2807208" y="4343400"/>
            <a:ext cx="1216152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dash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4069080" y="3950208"/>
            <a:ext cx="1783080" cy="822960"/>
          </a:xfrm>
          <a:prstGeom prst="diamond">
            <a:avLst/>
          </a:prstGeom>
          <a:solidFill>
            <a:srgbClr val="FDF3E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4160520" y="395020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44" name="Shape 33"/>
          <p:cNvSpPr/>
          <p:nvPr/>
        </p:nvSpPr>
        <p:spPr>
          <a:xfrm flipV="1">
            <a:off x="5870448" y="3794760"/>
            <a:ext cx="896112" cy="411480"/>
          </a:xfrm>
          <a:prstGeom prst="line">
            <a:avLst/>
          </a:prstGeom>
          <a:noFill/>
          <a:ln w="15875">
            <a:solidFill>
              <a:srgbClr val="1E7A46"/>
            </a:solidFill>
            <a:prstDash val="dash"/>
            <a:tailEnd type="triangle"/>
          </a:ln>
        </p:spPr>
      </p:sp>
      <p:sp>
        <p:nvSpPr>
          <p:cNvPr id="45" name="Text 34"/>
          <p:cNvSpPr/>
          <p:nvPr/>
        </p:nvSpPr>
        <p:spPr>
          <a:xfrm>
            <a:off x="6172200" y="36393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 enters the package</a:t>
            </a:r>
            <a:endParaRPr lang="en-US" sz="800" dirty="0"/>
          </a:p>
        </p:txBody>
      </p:sp>
      <p:sp>
        <p:nvSpPr>
          <p:cNvPr id="46" name="Shape 35"/>
          <p:cNvSpPr/>
          <p:nvPr/>
        </p:nvSpPr>
        <p:spPr>
          <a:xfrm>
            <a:off x="5870448" y="4526280"/>
            <a:ext cx="1216152" cy="228600"/>
          </a:xfrm>
          <a:prstGeom prst="line">
            <a:avLst/>
          </a:prstGeom>
          <a:noFill/>
          <a:ln w="15875">
            <a:solidFill>
              <a:srgbClr val="5B6B7F"/>
            </a:solidFill>
            <a:prstDash val="dash"/>
            <a:tailEnd type="triangle"/>
          </a:ln>
        </p:spPr>
      </p:sp>
      <p:sp>
        <p:nvSpPr>
          <p:cNvPr id="47" name="Text 36"/>
          <p:cNvSpPr/>
          <p:nvPr/>
        </p:nvSpPr>
        <p:spPr>
          <a:xfrm>
            <a:off x="717804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→ waits in the pipeline</a:t>
            </a:r>
            <a:endParaRPr lang="en-US" sz="800" dirty="0"/>
          </a:p>
        </p:txBody>
      </p:sp>
      <p:sp>
        <p:nvSpPr>
          <p:cNvPr id="48" name="Text 37"/>
          <p:cNvSpPr/>
          <p:nvPr/>
        </p:nvSpPr>
        <p:spPr>
          <a:xfrm>
            <a:off x="822960" y="4956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PACKAGE MOVES AS ONE STABLE UNIT</a:t>
            </a:r>
            <a:endParaRPr lang="en-US" sz="950" dirty="0"/>
          </a:p>
        </p:txBody>
      </p:sp>
      <p:sp>
        <p:nvSpPr>
          <p:cNvPr id="49" name="Shape 38"/>
          <p:cNvSpPr/>
          <p:nvPr/>
        </p:nvSpPr>
        <p:spPr>
          <a:xfrm>
            <a:off x="822960" y="5925312"/>
            <a:ext cx="1042416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1371600" y="5861304"/>
            <a:ext cx="0" cy="13716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868680" y="6035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52" name="Shape 41"/>
          <p:cNvSpPr/>
          <p:nvPr/>
        </p:nvSpPr>
        <p:spPr>
          <a:xfrm>
            <a:off x="3657600" y="5861304"/>
            <a:ext cx="0" cy="13716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154680" y="6035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54" name="Shape 43"/>
          <p:cNvSpPr/>
          <p:nvPr/>
        </p:nvSpPr>
        <p:spPr>
          <a:xfrm>
            <a:off x="5943600" y="5861304"/>
            <a:ext cx="0" cy="13716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440680" y="6035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50" dirty="0"/>
          </a:p>
        </p:txBody>
      </p:sp>
      <p:sp>
        <p:nvSpPr>
          <p:cNvPr id="56" name="Shape 45"/>
          <p:cNvSpPr/>
          <p:nvPr/>
        </p:nvSpPr>
        <p:spPr>
          <a:xfrm>
            <a:off x="8229600" y="5861304"/>
            <a:ext cx="0" cy="13716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726680" y="6035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50" dirty="0"/>
          </a:p>
        </p:txBody>
      </p:sp>
      <p:sp>
        <p:nvSpPr>
          <p:cNvPr id="58" name="Shape 47"/>
          <p:cNvSpPr/>
          <p:nvPr/>
        </p:nvSpPr>
        <p:spPr>
          <a:xfrm>
            <a:off x="10515600" y="5861304"/>
            <a:ext cx="0" cy="137160"/>
          </a:xfrm>
          <a:prstGeom prst="line">
            <a:avLst/>
          </a:prstGeom>
          <a:noFill/>
          <a:ln w="12700">
            <a:solidFill>
              <a:srgbClr val="5B6B7F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10012680" y="6035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50" dirty="0"/>
          </a:p>
        </p:txBody>
      </p:sp>
      <p:sp>
        <p:nvSpPr>
          <p:cNvPr id="60" name="Shape 49"/>
          <p:cNvSpPr/>
          <p:nvPr/>
        </p:nvSpPr>
        <p:spPr>
          <a:xfrm>
            <a:off x="1097280" y="5230368"/>
            <a:ext cx="7635240" cy="475488"/>
          </a:xfrm>
          <a:prstGeom prst="roundRect">
            <a:avLst>
              <a:gd name="adj" fmla="val 13462"/>
            </a:avLst>
          </a:prstGeom>
          <a:solidFill>
            <a:srgbClr val="E7F4EC"/>
          </a:solidFill>
          <a:ln w="9525">
            <a:solidFill>
              <a:srgbClr val="1E7A46"/>
            </a:solidFill>
            <a:prstDash val="solid"/>
          </a:ln>
        </p:spPr>
      </p:sp>
      <p:sp>
        <p:nvSpPr>
          <p:cNvPr id="61" name="Text 50"/>
          <p:cNvSpPr/>
          <p:nvPr/>
        </p:nvSpPr>
        <p:spPr>
          <a:xfrm>
            <a:off x="1097280" y="5230368"/>
            <a:ext cx="7635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— stable scope from release to delivery</a:t>
            </a:r>
            <a:endParaRPr lang="en-US" sz="1050" dirty="0"/>
          </a:p>
        </p:txBody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8448" y="5349240"/>
            <a:ext cx="237744" cy="237744"/>
          </a:xfrm>
          <a:prstGeom prst="rect">
            <a:avLst/>
          </a:prstGeom>
        </p:spPr>
      </p:pic>
      <p:pic>
        <p:nvPicPr>
          <p:cNvPr id="6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0" y="5349240"/>
            <a:ext cx="237744" cy="237744"/>
          </a:xfrm>
          <a:prstGeom prst="rect">
            <a:avLst/>
          </a:prstGeom>
        </p:spPr>
      </p:pic>
      <p:sp>
        <p:nvSpPr>
          <p:cNvPr id="64" name="Shape 51"/>
          <p:cNvSpPr/>
          <p:nvPr/>
        </p:nvSpPr>
        <p:spPr>
          <a:xfrm>
            <a:off x="8796528" y="5468112"/>
            <a:ext cx="1307592" cy="0"/>
          </a:xfrm>
          <a:prstGeom prst="line">
            <a:avLst/>
          </a:prstGeom>
          <a:noFill/>
          <a:ln w="22225">
            <a:solidFill>
              <a:srgbClr val="1E7A46"/>
            </a:solidFill>
            <a:prstDash val="solid"/>
            <a:tailEnd type="triangle"/>
          </a:ln>
        </p:spPr>
      </p:sp>
      <p:sp>
        <p:nvSpPr>
          <p:cNvPr id="65" name="Shape 52"/>
          <p:cNvSpPr/>
          <p:nvPr/>
        </p:nvSpPr>
        <p:spPr>
          <a:xfrm>
            <a:off x="10277856" y="5230368"/>
            <a:ext cx="475488" cy="475488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91973" y="5344485"/>
            <a:ext cx="247254" cy="247254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1975104" y="62727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work enters a released package without governance approval — that is how delivery dates become predictable.</a:t>
            </a:r>
            <a:endParaRPr lang="en-US" sz="1050" dirty="0"/>
          </a:p>
        </p:txBody>
      </p:sp>
      <p:sp>
        <p:nvSpPr>
          <p:cNvPr id="68" name="Text 54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69" name="Text 55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1F5FA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·  FUTURE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engineering work cycle — focus protected for four weeks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Swimlane — one full cycle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1183112" cy="1700784"/>
          </a:xfrm>
          <a:prstGeom prst="roundRect">
            <a:avLst>
              <a:gd name="adj" fmla="val 3763"/>
            </a:avLst>
          </a:prstGeom>
          <a:solidFill>
            <a:srgbClr val="FDF3E3"/>
          </a:solidFill>
          <a:ln w="9525">
            <a:solidFill>
              <a:srgbClr val="EAD9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8988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REQUESTS — CONTINUOUS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664208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96896" y="1975104"/>
            <a:ext cx="0" cy="402336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922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31336" y="2103120"/>
            <a:ext cx="0" cy="27432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64208"/>
            <a:ext cx="256032" cy="25603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065776" y="1975104"/>
            <a:ext cx="0" cy="402336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92224"/>
            <a:ext cx="256032" cy="2560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0216" y="2103120"/>
            <a:ext cx="0" cy="27432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664208"/>
            <a:ext cx="256032" cy="25603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7534656" y="1975104"/>
            <a:ext cx="0" cy="402336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1792224"/>
            <a:ext cx="256032" cy="256032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69096" y="2103120"/>
            <a:ext cx="0" cy="27432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0" y="1664208"/>
            <a:ext cx="256032" cy="256032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10003536" y="1975104"/>
            <a:ext cx="0" cy="402336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1" name="Shape 12"/>
          <p:cNvSpPr/>
          <p:nvPr/>
        </p:nvSpPr>
        <p:spPr>
          <a:xfrm>
            <a:off x="2103120" y="2395728"/>
            <a:ext cx="90525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162447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2103120" y="239572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PIPELINE — requests wait here for the next planning session</a:t>
            </a:r>
            <a:endParaRPr lang="en-US" sz="950" dirty="0"/>
          </a:p>
        </p:txBody>
      </p:sp>
      <p:sp>
        <p:nvSpPr>
          <p:cNvPr id="23" name="Shape 14"/>
          <p:cNvSpPr/>
          <p:nvPr/>
        </p:nvSpPr>
        <p:spPr>
          <a:xfrm>
            <a:off x="502920" y="3310128"/>
            <a:ext cx="11183112" cy="0"/>
          </a:xfrm>
          <a:prstGeom prst="line">
            <a:avLst/>
          </a:prstGeom>
          <a:noFill/>
          <a:ln w="38100">
            <a:solidFill>
              <a:srgbClr val="162447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0632" y="3154680"/>
            <a:ext cx="310896" cy="310896"/>
          </a:xfrm>
          <a:prstGeom prst="rect">
            <a:avLst/>
          </a:prstGeom>
        </p:spPr>
      </p:pic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0056" y="3154680"/>
            <a:ext cx="310896" cy="310896"/>
          </a:xfrm>
          <a:prstGeom prst="rect">
            <a:avLst/>
          </a:prstGeom>
        </p:spPr>
      </p:pic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4032" y="3154680"/>
            <a:ext cx="310896" cy="31089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635240" y="3026664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BARRIER — nothing crosses mid-cycle</a:t>
            </a:r>
            <a:endParaRPr lang="en-US" sz="900" dirty="0"/>
          </a:p>
        </p:txBody>
      </p:sp>
      <p:sp>
        <p:nvSpPr>
          <p:cNvPr id="28" name="Shape 16"/>
          <p:cNvSpPr/>
          <p:nvPr/>
        </p:nvSpPr>
        <p:spPr>
          <a:xfrm>
            <a:off x="502920" y="3611880"/>
            <a:ext cx="11183112" cy="2148840"/>
          </a:xfrm>
          <a:prstGeom prst="roundRect">
            <a:avLst>
              <a:gd name="adj" fmla="val 2979"/>
            </a:avLst>
          </a:prstGeom>
          <a:solidFill>
            <a:srgbClr val="E9F1FA"/>
          </a:solidFill>
          <a:ln w="9525">
            <a:solidFill>
              <a:srgbClr val="C4D6EC"/>
            </a:solidFill>
            <a:prstDash val="solid"/>
          </a:ln>
        </p:spPr>
      </p:sp>
      <p:sp>
        <p:nvSpPr>
          <p:cNvPr id="29" name="Text 17"/>
          <p:cNvSpPr/>
          <p:nvPr/>
        </p:nvSpPr>
        <p:spPr>
          <a:xfrm>
            <a:off x="685800" y="3703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TEAM — PROTECTED</a:t>
            </a:r>
            <a:endParaRPr lang="en-US" sz="1000" dirty="0"/>
          </a:p>
        </p:txBody>
      </p:sp>
      <p:sp>
        <p:nvSpPr>
          <p:cNvPr id="30" name="Text 18"/>
          <p:cNvSpPr/>
          <p:nvPr/>
        </p:nvSpPr>
        <p:spPr>
          <a:xfrm>
            <a:off x="914400" y="39867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50" dirty="0"/>
          </a:p>
        </p:txBody>
      </p:sp>
      <p:sp>
        <p:nvSpPr>
          <p:cNvPr id="31" name="Shape 19"/>
          <p:cNvSpPr/>
          <p:nvPr/>
        </p:nvSpPr>
        <p:spPr>
          <a:xfrm>
            <a:off x="914400" y="4206240"/>
            <a:ext cx="2148840" cy="960120"/>
          </a:xfrm>
          <a:prstGeom prst="chevron">
            <a:avLst/>
          </a:prstGeom>
          <a:solidFill>
            <a:srgbClr val="1F5FA8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17320" y="4370832"/>
            <a:ext cx="237744" cy="237744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1078992" y="46268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34" name="Text 21"/>
          <p:cNvSpPr/>
          <p:nvPr/>
        </p:nvSpPr>
        <p:spPr>
          <a:xfrm>
            <a:off x="3118104" y="39867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50" dirty="0"/>
          </a:p>
        </p:txBody>
      </p:sp>
      <p:sp>
        <p:nvSpPr>
          <p:cNvPr id="35" name="Shape 22"/>
          <p:cNvSpPr/>
          <p:nvPr/>
        </p:nvSpPr>
        <p:spPr>
          <a:xfrm>
            <a:off x="3118104" y="4206240"/>
            <a:ext cx="2148840" cy="960120"/>
          </a:xfrm>
          <a:prstGeom prst="chevron">
            <a:avLst/>
          </a:prstGeom>
          <a:solidFill>
            <a:srgbClr val="162447"/>
          </a:solidFill>
          <a:ln/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1024" y="4370832"/>
            <a:ext cx="237744" cy="237744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3282696" y="46268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</a:t>
            </a:r>
            <a:endParaRPr lang="en-US" sz="950" dirty="0"/>
          </a:p>
        </p:txBody>
      </p:sp>
      <p:sp>
        <p:nvSpPr>
          <p:cNvPr id="38" name="Text 24"/>
          <p:cNvSpPr/>
          <p:nvPr/>
        </p:nvSpPr>
        <p:spPr>
          <a:xfrm>
            <a:off x="5321808" y="39867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50" dirty="0"/>
          </a:p>
        </p:txBody>
      </p:sp>
      <p:sp>
        <p:nvSpPr>
          <p:cNvPr id="39" name="Shape 25"/>
          <p:cNvSpPr/>
          <p:nvPr/>
        </p:nvSpPr>
        <p:spPr>
          <a:xfrm>
            <a:off x="5321808" y="4206240"/>
            <a:ext cx="2148840" cy="960120"/>
          </a:xfrm>
          <a:prstGeom prst="chevron">
            <a:avLst/>
          </a:prstGeom>
          <a:solidFill>
            <a:srgbClr val="162447"/>
          </a:solidFill>
          <a:ln/>
        </p:spPr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4728" y="4370832"/>
            <a:ext cx="237744" cy="237744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5486400" y="46268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</a:t>
            </a:r>
            <a:endParaRPr lang="en-US" sz="950" dirty="0"/>
          </a:p>
        </p:txBody>
      </p:sp>
      <p:sp>
        <p:nvSpPr>
          <p:cNvPr id="42" name="Text 27"/>
          <p:cNvSpPr/>
          <p:nvPr/>
        </p:nvSpPr>
        <p:spPr>
          <a:xfrm>
            <a:off x="7525512" y="3986784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50" dirty="0"/>
          </a:p>
        </p:txBody>
      </p:sp>
      <p:sp>
        <p:nvSpPr>
          <p:cNvPr id="43" name="Shape 28"/>
          <p:cNvSpPr/>
          <p:nvPr/>
        </p:nvSpPr>
        <p:spPr>
          <a:xfrm>
            <a:off x="7525512" y="4206240"/>
            <a:ext cx="2148840" cy="960120"/>
          </a:xfrm>
          <a:prstGeom prst="chevron">
            <a:avLst/>
          </a:prstGeom>
          <a:solidFill>
            <a:srgbClr val="1C7293"/>
          </a:solidFill>
          <a:ln/>
        </p:spPr>
      </p:sp>
      <p:pic>
        <p:nvPicPr>
          <p:cNvPr id="4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8432" y="4370832"/>
            <a:ext cx="237744" cy="237744"/>
          </a:xfrm>
          <a:prstGeom prst="rect">
            <a:avLst/>
          </a:prstGeom>
        </p:spPr>
      </p:pic>
      <p:sp>
        <p:nvSpPr>
          <p:cNvPr id="45" name="Text 29"/>
          <p:cNvSpPr/>
          <p:nvPr/>
        </p:nvSpPr>
        <p:spPr>
          <a:xfrm>
            <a:off x="7690104" y="46268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50" dirty="0"/>
          </a:p>
        </p:txBody>
      </p:sp>
      <p:sp>
        <p:nvSpPr>
          <p:cNvPr id="46" name="Shape 30"/>
          <p:cNvSpPr/>
          <p:nvPr/>
        </p:nvSpPr>
        <p:spPr>
          <a:xfrm>
            <a:off x="9765792" y="4206240"/>
            <a:ext cx="1737360" cy="960120"/>
          </a:xfrm>
          <a:prstGeom prst="chevron">
            <a:avLst/>
          </a:prstGeom>
          <a:solidFill>
            <a:srgbClr val="1E7A46"/>
          </a:solidFill>
          <a:ln/>
        </p:spPr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78440" y="4334256"/>
            <a:ext cx="237744" cy="237744"/>
          </a:xfrm>
          <a:prstGeom prst="rect">
            <a:avLst/>
          </a:prstGeom>
        </p:spPr>
      </p:pic>
      <p:sp>
        <p:nvSpPr>
          <p:cNvPr id="48" name="Text 31"/>
          <p:cNvSpPr/>
          <p:nvPr/>
        </p:nvSpPr>
        <p:spPr>
          <a:xfrm>
            <a:off x="9875520" y="45902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950" dirty="0"/>
          </a:p>
        </p:txBody>
      </p:sp>
      <p:sp>
        <p:nvSpPr>
          <p:cNvPr id="49" name="Text 32"/>
          <p:cNvSpPr/>
          <p:nvPr/>
        </p:nvSpPr>
        <p:spPr>
          <a:xfrm>
            <a:off x="914400" y="53218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stay focused — zero interruptions inside the cycle</a:t>
            </a:r>
            <a:endParaRPr lang="en-US" sz="950" dirty="0"/>
          </a:p>
        </p:txBody>
      </p:sp>
      <p:sp>
        <p:nvSpPr>
          <p:cNvPr id="50" name="Shape 33"/>
          <p:cNvSpPr/>
          <p:nvPr/>
        </p:nvSpPr>
        <p:spPr>
          <a:xfrm>
            <a:off x="10634472" y="5230368"/>
            <a:ext cx="0" cy="310896"/>
          </a:xfrm>
          <a:prstGeom prst="line">
            <a:avLst/>
          </a:prstGeom>
          <a:noFill/>
          <a:ln w="12700">
            <a:solidFill>
              <a:srgbClr val="5B6B7F"/>
            </a:solidFill>
            <a:prstDash val="dash"/>
          </a:ln>
        </p:spPr>
      </p:sp>
      <p:sp>
        <p:nvSpPr>
          <p:cNvPr id="51" name="Shape 34"/>
          <p:cNvSpPr/>
          <p:nvPr/>
        </p:nvSpPr>
        <p:spPr>
          <a:xfrm flipH="1">
            <a:off x="2011680" y="5541264"/>
            <a:ext cx="8622792" cy="0"/>
          </a:xfrm>
          <a:prstGeom prst="line">
            <a:avLst/>
          </a:prstGeom>
          <a:noFill/>
          <a:ln w="12700">
            <a:solidFill>
              <a:srgbClr val="5B6B7F"/>
            </a:solidFill>
            <a:prstDash val="dash"/>
            <a:tailEnd type="triangle"/>
          </a:ln>
        </p:spPr>
      </p:sp>
      <p:sp>
        <p:nvSpPr>
          <p:cNvPr id="52" name="Text 35"/>
          <p:cNvSpPr/>
          <p:nvPr/>
        </p:nvSpPr>
        <p:spPr>
          <a:xfrm>
            <a:off x="3291840" y="5568696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 begins — the pipeline feeds Week 1 planning</a:t>
            </a:r>
            <a:endParaRPr lang="en-US" sz="850" dirty="0"/>
          </a:p>
        </p:txBody>
      </p:sp>
      <p:sp>
        <p:nvSpPr>
          <p:cNvPr id="53" name="Shape 36"/>
          <p:cNvSpPr/>
          <p:nvPr/>
        </p:nvSpPr>
        <p:spPr>
          <a:xfrm>
            <a:off x="502920" y="6053328"/>
            <a:ext cx="11183112" cy="502920"/>
          </a:xfrm>
          <a:prstGeom prst="roundRect">
            <a:avLst>
              <a:gd name="adj" fmla="val 12727"/>
            </a:avLst>
          </a:prstGeom>
          <a:solidFill>
            <a:srgbClr val="162447"/>
          </a:solidFill>
          <a:ln/>
        </p:spPr>
      </p:sp>
      <p:sp>
        <p:nvSpPr>
          <p:cNvPr id="54" name="Text 37"/>
          <p:cNvSpPr/>
          <p:nvPr/>
        </p:nvSpPr>
        <p:spPr>
          <a:xfrm>
            <a:off x="502920" y="605332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never stops — but it never touches an engineer mid-cycle.</a:t>
            </a:r>
            <a:endParaRPr lang="en-US" sz="1300" dirty="0"/>
          </a:p>
        </p:txBody>
      </p:sp>
      <p:sp>
        <p:nvSpPr>
          <p:cNvPr id="55" name="Text 38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56" name="Text 39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1624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vs  TO-BE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at a glance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understood in 30 seconds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303520" cy="4343400"/>
          </a:xfrm>
          <a:prstGeom prst="roundRect">
            <a:avLst>
              <a:gd name="adj" fmla="val 1474"/>
            </a:avLst>
          </a:prstGeom>
          <a:solidFill>
            <a:srgbClr val="FBEAE8"/>
          </a:solidFill>
          <a:ln w="9525">
            <a:solidFill>
              <a:srgbClr val="E8C4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264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REACTIVE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2011680" cy="77724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73936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11680" y="1810512"/>
            <a:ext cx="1051560" cy="93268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 flipH="1">
            <a:off x="3337560" y="1874520"/>
            <a:ext cx="1051560" cy="88696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36776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 flipH="1">
            <a:off x="3429000" y="2286000"/>
            <a:ext cx="1783080" cy="68580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 flipV="1">
            <a:off x="960120" y="3200400"/>
            <a:ext cx="1920240" cy="73152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94176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 flipH="1" flipV="1">
            <a:off x="3456432" y="3154680"/>
            <a:ext cx="1801368" cy="640080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 flipV="1">
            <a:off x="1828800" y="3273552"/>
            <a:ext cx="1143000" cy="932688"/>
          </a:xfrm>
          <a:prstGeom prst="line">
            <a:avLst/>
          </a:prstGeom>
          <a:noFill/>
          <a:ln w="15875">
            <a:solidFill>
              <a:srgbClr val="C0392B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3968496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871216" y="2734056"/>
            <a:ext cx="566928" cy="566928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279" y="2870119"/>
            <a:ext cx="294803" cy="294803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2606040"/>
            <a:ext cx="201168" cy="201168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3401568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77240" y="4498848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arrows everywhere</a:t>
            </a:r>
            <a:endParaRPr lang="en-US" sz="900" dirty="0"/>
          </a:p>
        </p:txBody>
      </p:sp>
      <p:sp>
        <p:nvSpPr>
          <p:cNvPr id="23" name="Text 14"/>
          <p:cNvSpPr/>
          <p:nvPr/>
        </p:nvSpPr>
        <p:spPr>
          <a:xfrm>
            <a:off x="3429000" y="4498848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interruptions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777240" y="4882896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from all directions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3429000" y="4882896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workflow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777240" y="5266944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changes daily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3429000" y="5266944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E8C4B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commitment dates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5870448" y="3200400"/>
            <a:ext cx="457200" cy="502920"/>
          </a:xfrm>
          <a:prstGeom prst="chevron">
            <a:avLst/>
          </a:prstGeom>
          <a:solidFill>
            <a:srgbClr val="162447"/>
          </a:solidFill>
          <a:ln/>
        </p:spPr>
      </p:sp>
      <p:sp>
        <p:nvSpPr>
          <p:cNvPr id="29" name="Shape 20"/>
          <p:cNvSpPr/>
          <p:nvPr/>
        </p:nvSpPr>
        <p:spPr>
          <a:xfrm>
            <a:off x="6382512" y="1280160"/>
            <a:ext cx="5303520" cy="4343400"/>
          </a:xfrm>
          <a:prstGeom prst="roundRect">
            <a:avLst>
              <a:gd name="adj" fmla="val 1474"/>
            </a:avLst>
          </a:prstGeom>
          <a:solidFill>
            <a:srgbClr val="E7F4EC"/>
          </a:solidFill>
          <a:ln w="9525">
            <a:solidFill>
              <a:srgbClr val="BFDCC9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6382512" y="14264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PREDICTABLE</a:t>
            </a:r>
            <a:endParaRPr lang="en-US" sz="1500" dirty="0"/>
          </a:p>
        </p:txBody>
      </p:sp>
      <p:sp>
        <p:nvSpPr>
          <p:cNvPr id="31" name="Shape 22"/>
          <p:cNvSpPr/>
          <p:nvPr/>
        </p:nvSpPr>
        <p:spPr>
          <a:xfrm>
            <a:off x="6693408" y="242316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082" y="2554834"/>
            <a:ext cx="285293" cy="285293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510528" y="3035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750" dirty="0"/>
          </a:p>
        </p:txBody>
      </p:sp>
      <p:sp>
        <p:nvSpPr>
          <p:cNvPr id="34" name="Shape 24"/>
          <p:cNvSpPr/>
          <p:nvPr/>
        </p:nvSpPr>
        <p:spPr>
          <a:xfrm>
            <a:off x="7260336" y="2697480"/>
            <a:ext cx="365760" cy="0"/>
          </a:xfrm>
          <a:prstGeom prst="line">
            <a:avLst/>
          </a:prstGeom>
          <a:noFill/>
          <a:ln w="19050">
            <a:solidFill>
              <a:srgbClr val="1E7A46"/>
            </a:solidFill>
            <a:prstDash val="solid"/>
            <a:tailEnd type="triangle"/>
          </a:ln>
        </p:spPr>
      </p:sp>
      <p:sp>
        <p:nvSpPr>
          <p:cNvPr id="35" name="Shape 25"/>
          <p:cNvSpPr/>
          <p:nvPr/>
        </p:nvSpPr>
        <p:spPr>
          <a:xfrm>
            <a:off x="7644384" y="242316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6058" y="2554834"/>
            <a:ext cx="285293" cy="285293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61504" y="3035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38" name="Shape 27"/>
          <p:cNvSpPr/>
          <p:nvPr/>
        </p:nvSpPr>
        <p:spPr>
          <a:xfrm>
            <a:off x="8211312" y="2697480"/>
            <a:ext cx="365760" cy="0"/>
          </a:xfrm>
          <a:prstGeom prst="line">
            <a:avLst/>
          </a:prstGeom>
          <a:noFill/>
          <a:ln w="19050">
            <a:solidFill>
              <a:srgbClr val="1E7A46"/>
            </a:solidFill>
            <a:prstDash val="solid"/>
            <a:tailEnd type="triangle"/>
          </a:ln>
        </p:spPr>
      </p:sp>
      <p:sp>
        <p:nvSpPr>
          <p:cNvPr id="39" name="Shape 28"/>
          <p:cNvSpPr/>
          <p:nvPr/>
        </p:nvSpPr>
        <p:spPr>
          <a:xfrm>
            <a:off x="8595360" y="242316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7034" y="2554834"/>
            <a:ext cx="285293" cy="285293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8412480" y="3035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750" dirty="0"/>
          </a:p>
        </p:txBody>
      </p:sp>
      <p:sp>
        <p:nvSpPr>
          <p:cNvPr id="42" name="Shape 30"/>
          <p:cNvSpPr/>
          <p:nvPr/>
        </p:nvSpPr>
        <p:spPr>
          <a:xfrm>
            <a:off x="9162288" y="2697480"/>
            <a:ext cx="365760" cy="0"/>
          </a:xfrm>
          <a:prstGeom prst="line">
            <a:avLst/>
          </a:prstGeom>
          <a:noFill/>
          <a:ln w="19050">
            <a:solidFill>
              <a:srgbClr val="1E7A46"/>
            </a:solidFill>
            <a:prstDash val="solid"/>
            <a:tailEnd type="triangle"/>
          </a:ln>
        </p:spPr>
      </p:sp>
      <p:sp>
        <p:nvSpPr>
          <p:cNvPr id="43" name="Shape 31"/>
          <p:cNvSpPr/>
          <p:nvPr/>
        </p:nvSpPr>
        <p:spPr>
          <a:xfrm>
            <a:off x="9546336" y="2423160"/>
            <a:ext cx="548640" cy="548640"/>
          </a:xfrm>
          <a:prstGeom prst="ellipse">
            <a:avLst/>
          </a:prstGeom>
          <a:solidFill>
            <a:srgbClr val="162447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8010" y="2554834"/>
            <a:ext cx="285293" cy="285293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9363456" y="3035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50" dirty="0"/>
          </a:p>
        </p:txBody>
      </p:sp>
      <p:sp>
        <p:nvSpPr>
          <p:cNvPr id="46" name="Shape 33"/>
          <p:cNvSpPr/>
          <p:nvPr/>
        </p:nvSpPr>
        <p:spPr>
          <a:xfrm>
            <a:off x="10113264" y="2697480"/>
            <a:ext cx="365760" cy="0"/>
          </a:xfrm>
          <a:prstGeom prst="line">
            <a:avLst/>
          </a:prstGeom>
          <a:noFill/>
          <a:ln w="19050">
            <a:solidFill>
              <a:srgbClr val="1E7A46"/>
            </a:solidFill>
            <a:prstDash val="solid"/>
            <a:tailEnd type="triangle"/>
          </a:ln>
        </p:spPr>
      </p:sp>
      <p:sp>
        <p:nvSpPr>
          <p:cNvPr id="47" name="Shape 34"/>
          <p:cNvSpPr/>
          <p:nvPr/>
        </p:nvSpPr>
        <p:spPr>
          <a:xfrm>
            <a:off x="10497312" y="2423160"/>
            <a:ext cx="548640" cy="548640"/>
          </a:xfrm>
          <a:prstGeom prst="ellipse">
            <a:avLst/>
          </a:prstGeom>
          <a:solidFill>
            <a:srgbClr val="1E7A46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8986" y="2554834"/>
            <a:ext cx="285293" cy="285293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0314432" y="3035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50" name="Text 36"/>
          <p:cNvSpPr/>
          <p:nvPr/>
        </p:nvSpPr>
        <p:spPr>
          <a:xfrm>
            <a:off x="6382512" y="34015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 line from request to delivery</a:t>
            </a:r>
            <a:endParaRPr lang="en-US" sz="950" dirty="0"/>
          </a:p>
        </p:txBody>
      </p:sp>
      <p:sp>
        <p:nvSpPr>
          <p:cNvPr id="51" name="Text 37"/>
          <p:cNvSpPr/>
          <p:nvPr/>
        </p:nvSpPr>
        <p:spPr>
          <a:xfrm>
            <a:off x="6656832" y="4498848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BFDCC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single flow</a:t>
            </a:r>
            <a:endParaRPr lang="en-US" sz="900" dirty="0"/>
          </a:p>
        </p:txBody>
      </p:sp>
      <p:sp>
        <p:nvSpPr>
          <p:cNvPr id="52" name="Text 38"/>
          <p:cNvSpPr/>
          <p:nvPr/>
        </p:nvSpPr>
        <p:spPr>
          <a:xfrm>
            <a:off x="9308592" y="4498848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BFDCC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queue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6656832" y="4882896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BFDCC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work packages</a:t>
            </a:r>
            <a:endParaRPr lang="en-US" sz="900" dirty="0"/>
          </a:p>
        </p:txBody>
      </p:sp>
      <p:sp>
        <p:nvSpPr>
          <p:cNvPr id="54" name="Text 40"/>
          <p:cNvSpPr/>
          <p:nvPr/>
        </p:nvSpPr>
        <p:spPr>
          <a:xfrm>
            <a:off x="9308592" y="4882896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BFDCC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governance</a:t>
            </a:r>
            <a:endParaRPr lang="en-US" sz="900" dirty="0"/>
          </a:p>
        </p:txBody>
      </p:sp>
      <p:sp>
        <p:nvSpPr>
          <p:cNvPr id="55" name="Text 41"/>
          <p:cNvSpPr/>
          <p:nvPr/>
        </p:nvSpPr>
        <p:spPr>
          <a:xfrm>
            <a:off x="6656832" y="5266944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BFDCC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priorities</a:t>
            </a:r>
            <a:endParaRPr lang="en-US" sz="900" dirty="0"/>
          </a:p>
        </p:txBody>
      </p:sp>
      <p:sp>
        <p:nvSpPr>
          <p:cNvPr id="56" name="Text 42"/>
          <p:cNvSpPr/>
          <p:nvPr/>
        </p:nvSpPr>
        <p:spPr>
          <a:xfrm>
            <a:off x="9308592" y="5266944"/>
            <a:ext cx="2468880" cy="310896"/>
          </a:xfrm>
          <a:prstGeom prst="roundRect">
            <a:avLst>
              <a:gd name="adj" fmla="val 16176"/>
            </a:avLst>
          </a:prstGeom>
          <a:solidFill>
            <a:srgbClr val="FFFFFF"/>
          </a:solidFill>
          <a:ln w="9525">
            <a:solidFill>
              <a:srgbClr val="BFDCC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5D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delivery</a:t>
            </a:r>
            <a:endParaRPr lang="en-US" sz="900" dirty="0"/>
          </a:p>
        </p:txBody>
      </p:sp>
      <p:sp>
        <p:nvSpPr>
          <p:cNvPr id="57" name="Text 43"/>
          <p:cNvSpPr/>
          <p:nvPr/>
        </p:nvSpPr>
        <p:spPr>
          <a:xfrm>
            <a:off x="502920" y="5943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demand — run through a different system.</a:t>
            </a:r>
            <a:endParaRPr lang="en-US" sz="1200" dirty="0"/>
          </a:p>
        </p:txBody>
      </p:sp>
      <p:sp>
        <p:nvSpPr>
          <p:cNvPr id="58" name="Text 44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59" name="Text 45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2103120" cy="292608"/>
          </a:xfrm>
          <a:prstGeom prst="roundRect">
            <a:avLst>
              <a:gd name="adj" fmla="val 17188"/>
            </a:avLst>
          </a:prstGeom>
          <a:solidFill>
            <a:srgbClr val="1E7A46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BENEFITS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gains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42976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dimensions, one decision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98264"/>
                <a:gridCol w="4407408"/>
              </a:tblGrid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 — REACTIVE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26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STATE — PREDICTABLE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A4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Intake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to any engineer, any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central intake — one front door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come / loudest voice wins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by priority, value and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hides in personal inboxes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 visible to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— always overloaded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weekly slots per 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Interrupted daily, constant switching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Protected inside the work package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Predictability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slip continuously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Committed date per work package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 decisions, no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planning + exception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Expectations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“urgent”, nothing certain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commitments and queue 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 Utilization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Fragmented by context switching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slots spent on planned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Rushed under 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QA week in every 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Reporting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chasing for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and package status on 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Balancing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— whoever gets asked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to capability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172200"/>
            <a:ext cx="11183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6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engineers. Same demand. A different operating system for work.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547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Delivery System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28832" y="65471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Engineering to </a:t>
            </a:r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Engineering</a:t>
            </a:r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engineering capacity through controlled demand management.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223560"/>
          </a:solidFill>
          <a:ln w="9525">
            <a:solidFill>
              <a:srgbClr val="3D5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3447288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023" y="3570183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0440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F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INTAKE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51560" y="4407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enters through one front door. Engineers are never interrupted directly — the system absorbs the demand.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416552" y="329184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223560"/>
          </a:solidFill>
          <a:ln w="9525">
            <a:solidFill>
              <a:srgbClr val="3D57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3447288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615" y="3570183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14032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F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45152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CAPACITY-BASED RELEASE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645152" y="4407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released weekly against real capability capacity — priority and business value decide, not urgency.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10144" y="3291840"/>
            <a:ext cx="3383280" cy="1965960"/>
          </a:xfrm>
          <a:prstGeom prst="roundRect">
            <a:avLst>
              <a:gd name="adj" fmla="val 3256"/>
            </a:avLst>
          </a:prstGeom>
          <a:solidFill>
            <a:srgbClr val="223560"/>
          </a:solidFill>
          <a:ln w="9525">
            <a:solidFill>
              <a:srgbClr val="3D578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11312" y="3447288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207" y="3570183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707624" y="34290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F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38744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WORK PACKAGES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238744" y="44074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B9C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scope per cycle turns engineering effort into delivery dates stakeholders can trust.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requested:  approve the Engineering Design Delivery System — stand up Central Intake and the Weekly Planning Session.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Management  ·  August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Reactive Engineering to Predictable Engineering</dc:title>
  <dc:subject>PptxGenJS Presentation</dc:subject>
  <dc:creator>Engineering Design Department</dc:creator>
  <cp:lastModifiedBy>Engineering Design Department</cp:lastModifiedBy>
  <cp:revision>1</cp:revision>
  <dcterms:created xsi:type="dcterms:W3CDTF">2026-08-04T19:13:46Z</dcterms:created>
  <dcterms:modified xsi:type="dcterms:W3CDTF">2026-08-04T19:13:46Z</dcterms:modified>
</cp:coreProperties>
</file>